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4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62" r:id="rId5"/>
    <p:sldMasterId id="2147483664" r:id="rId6"/>
    <p:sldMasterId id="2147483669" r:id="rId7"/>
    <p:sldMasterId id="2147483739" r:id="rId8"/>
  </p:sldMasterIdLst>
  <p:notesMasterIdLst>
    <p:notesMasterId r:id="rId41"/>
  </p:notesMasterIdLst>
  <p:sldIdLst>
    <p:sldId id="256" r:id="rId9"/>
    <p:sldId id="330" r:id="rId10"/>
    <p:sldId id="284" r:id="rId11"/>
    <p:sldId id="329" r:id="rId12"/>
    <p:sldId id="496" r:id="rId13"/>
    <p:sldId id="285" r:id="rId14"/>
    <p:sldId id="312" r:id="rId15"/>
    <p:sldId id="286" r:id="rId16"/>
    <p:sldId id="287" r:id="rId17"/>
    <p:sldId id="311" r:id="rId18"/>
    <p:sldId id="288" r:id="rId19"/>
    <p:sldId id="315" r:id="rId20"/>
    <p:sldId id="314" r:id="rId21"/>
    <p:sldId id="316" r:id="rId22"/>
    <p:sldId id="317" r:id="rId23"/>
    <p:sldId id="302" r:id="rId24"/>
    <p:sldId id="319" r:id="rId25"/>
    <p:sldId id="320" r:id="rId26"/>
    <p:sldId id="321" r:id="rId27"/>
    <p:sldId id="499" r:id="rId28"/>
    <p:sldId id="323" r:id="rId29"/>
    <p:sldId id="500" r:id="rId30"/>
    <p:sldId id="325" r:id="rId31"/>
    <p:sldId id="326" r:id="rId32"/>
    <p:sldId id="327" r:id="rId33"/>
    <p:sldId id="331" r:id="rId34"/>
    <p:sldId id="497" r:id="rId35"/>
    <p:sldId id="337" r:id="rId36"/>
    <p:sldId id="324" r:id="rId37"/>
    <p:sldId id="498" r:id="rId38"/>
    <p:sldId id="283" r:id="rId39"/>
    <p:sldId id="265" r:id="rId40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0265D"/>
    <a:srgbClr val="EBAFB5"/>
    <a:srgbClr val="F4D3D6"/>
    <a:srgbClr val="F9E8EA"/>
    <a:srgbClr val="020000"/>
    <a:srgbClr val="3030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1E046A0-5D46-074C-C9D0-6D15F63A3089}" v="1" dt="2025-09-18T21:36:35.4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1542" y="7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-6" y="-18"/>
    </p:cViewPr>
  </p:notesTextViewPr>
  <p:sorterViewPr>
    <p:cViewPr>
      <p:scale>
        <a:sx n="160" d="100"/>
        <a:sy n="16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39" Type="http://schemas.openxmlformats.org/officeDocument/2006/relationships/slide" Target="slides/slide31.xml"/><Relationship Id="rId21" Type="http://schemas.openxmlformats.org/officeDocument/2006/relationships/slide" Target="slides/slide13.xml"/><Relationship Id="rId34" Type="http://schemas.openxmlformats.org/officeDocument/2006/relationships/slide" Target="slides/slide26.xml"/><Relationship Id="rId42" Type="http://schemas.openxmlformats.org/officeDocument/2006/relationships/presProps" Target="presProps.xml"/><Relationship Id="rId47" Type="http://schemas.microsoft.com/office/2015/10/relationships/revisionInfo" Target="revisionInfo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9" Type="http://schemas.openxmlformats.org/officeDocument/2006/relationships/slide" Target="slides/slide2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slide" Target="slides/slide24.xml"/><Relationship Id="rId37" Type="http://schemas.openxmlformats.org/officeDocument/2006/relationships/slide" Target="slides/slide29.xml"/><Relationship Id="rId40" Type="http://schemas.openxmlformats.org/officeDocument/2006/relationships/slide" Target="slides/slide32.xml"/><Relationship Id="rId45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slide" Target="slides/slide28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slide" Target="slides/slide23.xml"/><Relationship Id="rId44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slide" Target="slides/slide22.xml"/><Relationship Id="rId35" Type="http://schemas.openxmlformats.org/officeDocument/2006/relationships/slide" Target="slides/slide27.xml"/><Relationship Id="rId43" Type="http://schemas.openxmlformats.org/officeDocument/2006/relationships/viewProps" Target="viewProps.xml"/><Relationship Id="rId8" Type="http://schemas.openxmlformats.org/officeDocument/2006/relationships/slideMaster" Target="slideMasters/slideMaster5.xml"/><Relationship Id="rId3" Type="http://schemas.openxmlformats.org/officeDocument/2006/relationships/customXml" Target="../customXml/item3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slide" Target="slides/slide25.xml"/><Relationship Id="rId38" Type="http://schemas.openxmlformats.org/officeDocument/2006/relationships/slide" Target="slides/slide30.xml"/><Relationship Id="rId46" Type="http://schemas.microsoft.com/office/2016/11/relationships/changesInfo" Target="changesInfos/changesInfo1.xml"/><Relationship Id="rId20" Type="http://schemas.openxmlformats.org/officeDocument/2006/relationships/slide" Target="slides/slide12.xml"/><Relationship Id="rId41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eus Tibão Veloso" userId="S::rm553267@fiap.com.br::17c8305d-2301-4d00-b565-096807463441" providerId="AD" clId="Web-{C1E046A0-5D46-074C-C9D0-6D15F63A3089}"/>
    <pc:docChg chg="modSld">
      <pc:chgData name="Mateus Tibão Veloso" userId="S::rm553267@fiap.com.br::17c8305d-2301-4d00-b565-096807463441" providerId="AD" clId="Web-{C1E046A0-5D46-074C-C9D0-6D15F63A3089}" dt="2025-09-18T21:36:35.492" v="0" actId="1076"/>
      <pc:docMkLst>
        <pc:docMk/>
      </pc:docMkLst>
      <pc:sldChg chg="modSp">
        <pc:chgData name="Mateus Tibão Veloso" userId="S::rm553267@fiap.com.br::17c8305d-2301-4d00-b565-096807463441" providerId="AD" clId="Web-{C1E046A0-5D46-074C-C9D0-6D15F63A3089}" dt="2025-09-18T21:36:35.492" v="0" actId="1076"/>
        <pc:sldMkLst>
          <pc:docMk/>
          <pc:sldMk cId="648820853" sldId="330"/>
        </pc:sldMkLst>
        <pc:picChg chg="mod">
          <ac:chgData name="Mateus Tibão Veloso" userId="S::rm553267@fiap.com.br::17c8305d-2301-4d00-b565-096807463441" providerId="AD" clId="Web-{C1E046A0-5D46-074C-C9D0-6D15F63A3089}" dt="2025-09-18T21:36:35.492" v="0" actId="1076"/>
          <ac:picMkLst>
            <pc:docMk/>
            <pc:sldMk cId="648820853" sldId="330"/>
            <ac:picMk id="14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498697-E7EB-B84D-9726-13965ED94444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C6CD5E-26BD-9B45-BB2F-78648736C277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288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727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323528" y="44625"/>
            <a:ext cx="7272808" cy="720079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Slide 1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79512" y="908720"/>
            <a:ext cx="8712968" cy="5328592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pt-BR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9581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190500"/>
            <a:ext cx="7323138" cy="5556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162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0" y="44625"/>
            <a:ext cx="7596336" cy="1224136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pt-BR" dirty="0"/>
              <a:t>Slide 2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475656" y="1340768"/>
            <a:ext cx="6192688" cy="4104456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dirty="0"/>
              <a:t>Clique para editar o estilo do subtítulo mestre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619672" y="44625"/>
            <a:ext cx="6120680" cy="1008112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pt-BR" dirty="0"/>
              <a:t>Slide 3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47664" y="1268760"/>
            <a:ext cx="6192688" cy="417646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dirty="0"/>
              <a:t>Clique para editar o estilo do subtítulo mestre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B2651-F9F0-4019-B100-93C85F8E2C26}" type="datetimeFigureOut">
              <a:rPr lang="pt-BR" smtClean="0"/>
              <a:pPr/>
              <a:t>18/09/2025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C589D-6B0F-420F-8E10-BF96F97B9040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020199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B2651-F9F0-4019-B100-93C85F8E2C26}" type="datetimeFigureOut">
              <a:rPr lang="pt-BR" smtClean="0"/>
              <a:pPr/>
              <a:t>18/09/2025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C589D-6B0F-420F-8E10-BF96F97B9040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59333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B2651-F9F0-4019-B100-93C85F8E2C26}" type="datetimeFigureOut">
              <a:rPr lang="pt-BR" smtClean="0"/>
              <a:pPr/>
              <a:t>18/09/2025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C589D-6B0F-420F-8E10-BF96F97B9040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989526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B2651-F9F0-4019-B100-93C85F8E2C26}" type="datetimeFigureOut">
              <a:rPr lang="pt-BR" smtClean="0"/>
              <a:pPr/>
              <a:t>18/09/2025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C589D-6B0F-420F-8E10-BF96F97B9040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343016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B2651-F9F0-4019-B100-93C85F8E2C26}" type="datetimeFigureOut">
              <a:rPr lang="pt-BR" smtClean="0"/>
              <a:pPr/>
              <a:t>18/09/2025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C589D-6B0F-420F-8E10-BF96F97B9040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179409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B2651-F9F0-4019-B100-93C85F8E2C26}" type="datetimeFigureOut">
              <a:rPr lang="pt-BR" smtClean="0"/>
              <a:pPr/>
              <a:t>18/09/2025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C589D-6B0F-420F-8E10-BF96F97B9040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560677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B2651-F9F0-4019-B100-93C85F8E2C26}" type="datetimeFigureOut">
              <a:rPr lang="pt-BR" smtClean="0"/>
              <a:pPr/>
              <a:t>18/09/2025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C589D-6B0F-420F-8E10-BF96F97B9040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91287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B2651-F9F0-4019-B100-93C85F8E2C26}" type="datetimeFigureOut">
              <a:rPr lang="pt-BR" smtClean="0"/>
              <a:pPr/>
              <a:t>18/09/2025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C589D-6B0F-420F-8E10-BF96F97B9040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01161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x-none"/>
              <a:t>Drag picture to placeholder or click icon to add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B2651-F9F0-4019-B100-93C85F8E2C26}" type="datetimeFigureOut">
              <a:rPr lang="pt-BR" smtClean="0"/>
              <a:pPr/>
              <a:t>18/09/2025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C589D-6B0F-420F-8E10-BF96F97B9040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65745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B2651-F9F0-4019-B100-93C85F8E2C26}" type="datetimeFigureOut">
              <a:rPr lang="pt-BR" smtClean="0"/>
              <a:pPr/>
              <a:t>18/09/2025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C589D-6B0F-420F-8E10-BF96F97B9040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94982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B2651-F9F0-4019-B100-93C85F8E2C26}" type="datetimeFigureOut">
              <a:rPr lang="pt-BR" smtClean="0"/>
              <a:pPr/>
              <a:t>18/09/2025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C589D-6B0F-420F-8E10-BF96F97B9040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79412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3064296" y="2751063"/>
            <a:ext cx="4532040" cy="1326009"/>
          </a:xfrm>
        </p:spPr>
        <p:txBody>
          <a:bodyPr/>
          <a:lstStyle>
            <a:lvl1pPr>
              <a:defRPr baseline="0"/>
            </a:lvl1pPr>
          </a:lstStyle>
          <a:p>
            <a:r>
              <a:rPr lang="pt-BR" dirty="0"/>
              <a:t>Nome do curso</a:t>
            </a:r>
          </a:p>
        </p:txBody>
      </p:sp>
      <p:sp>
        <p:nvSpPr>
          <p:cNvPr id="7" name="Título 1"/>
          <p:cNvSpPr txBox="1">
            <a:spLocks/>
          </p:cNvSpPr>
          <p:nvPr userDrawn="1"/>
        </p:nvSpPr>
        <p:spPr>
          <a:xfrm>
            <a:off x="3275856" y="5487367"/>
            <a:ext cx="5832648" cy="13260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aseline="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4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Nome do Professor</a:t>
            </a:r>
            <a:endParaRPr kumimoji="0" lang="pt-BR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9D725-AF79-4FB6-8D02-83EAC61E3211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629CB-7937-4506-A327-ACF88B95BB03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85662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C2E43-1104-4361-9C00-4DD9ABBC5D8F}" type="datetimeFigureOut">
              <a:rPr lang="pt-BR" smtClean="0"/>
              <a:pPr/>
              <a:t>18/09/2025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854818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9D725-AF79-4FB6-8D02-83EAC61E3211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629CB-7937-4506-A327-ACF88B95BB03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8288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C2E43-1104-4361-9C00-4DD9ABBC5D8F}" type="datetimeFigureOut">
              <a:rPr lang="pt-BR" smtClean="0"/>
              <a:pPr/>
              <a:t>18/09/2025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829246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C2E43-1104-4361-9C00-4DD9ABBC5D8F}" type="datetimeFigureOut">
              <a:rPr lang="pt-BR" smtClean="0"/>
              <a:pPr/>
              <a:t>18/09/2025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182328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C2E43-1104-4361-9C00-4DD9ABBC5D8F}" type="datetimeFigureOut">
              <a:rPr lang="pt-BR" smtClean="0"/>
              <a:pPr/>
              <a:t>18/09/2025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439573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0825E-4A15-4D39-8176-1F07E904CB30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4AAA4-6363-4581-962D-1ACCC2D600C5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62969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C2E43-1104-4361-9C00-4DD9ABBC5D8F}" type="datetimeFigureOut">
              <a:rPr lang="pt-BR" smtClean="0"/>
              <a:pPr/>
              <a:t>18/09/2025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733972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C2E43-1104-4361-9C00-4DD9ABBC5D8F}" type="datetimeFigureOut">
              <a:rPr lang="pt-BR" smtClean="0"/>
              <a:pPr/>
              <a:t>18/09/2025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375243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C2E43-1104-4361-9C00-4DD9ABBC5D8F}" type="datetimeFigureOut">
              <a:rPr lang="pt-BR" smtClean="0"/>
              <a:pPr/>
              <a:t>18/09/2025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987606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C2E43-1104-4361-9C00-4DD9ABBC5D8F}" type="datetimeFigureOut">
              <a:rPr lang="pt-BR" smtClean="0"/>
              <a:pPr/>
              <a:t>18/09/2025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335628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Quads Escuro MBA">
    <p:bg>
      <p:bgPr>
        <a:blipFill rotWithShape="1">
          <a:blip r:embed="rId2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9654343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4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DC2E43-1104-4361-9C00-4DD9ABBC5D8F}" type="datetimeFigureOut">
              <a:rPr lang="pt-BR" smtClean="0"/>
              <a:pPr/>
              <a:t>18/09/2025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2050" name="Picture 2" descr="K:\Júnior\B.I\FIAP Shift\Template 4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0" y="0"/>
            <a:ext cx="9144000" cy="6858001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7" r:id="rId2"/>
    <p:sldLayoutId id="2147483668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F66E0A-C854-4299-A8D3-265B33E61F69}" type="datetimeFigureOut">
              <a:rPr lang="pt-BR" smtClean="0"/>
              <a:pPr/>
              <a:t>18/09/2025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79B6C0-1EBF-4909-A23C-2B4E6C0F9776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3074" name="Picture 2" descr="K:\Júnior\B.I\FIAP Shift\Template 2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B5FC2F-4F59-4DA4-9C31-80974F5350D2}" type="datetimeFigureOut">
              <a:rPr lang="pt-BR" smtClean="0"/>
              <a:pPr/>
              <a:t>18/09/2025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8BDE16-AB64-4071-8A5E-208E5097AA46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4098" name="Picture 2" descr="K:\Júnior\B.I\FIAP Shift\Template 3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-99393"/>
            <a:ext cx="9276524" cy="6957393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7B2651-F9F0-4019-B100-93C85F8E2C26}" type="datetimeFigureOut">
              <a:rPr lang="pt-BR" smtClean="0"/>
              <a:pPr/>
              <a:t>18/09/2025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6C589D-6B0F-420F-8E10-BF96F97B9040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5771123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4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DC2E43-1104-4361-9C00-4DD9ABBC5D8F}" type="datetimeFigureOut">
              <a:rPr lang="pt-BR" smtClean="0"/>
              <a:pPr/>
              <a:t>18/09/2025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1062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  <p:sldLayoutId id="2147483751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hyperlink" Target="https://www.archimatetool.com/download/" TargetMode="Externa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7.emf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7.emf"/><Relationship Id="rId5" Type="http://schemas.openxmlformats.org/officeDocument/2006/relationships/image" Target="../media/image26.jpeg"/><Relationship Id="rId4" Type="http://schemas.openxmlformats.org/officeDocument/2006/relationships/image" Target="../media/image25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hyperlink" Target="https://reparadorsa.com.br/os-recalls-mais-marcantes-da-historia-automotiva-brasileira/" TargetMode="External"/><Relationship Id="rId1" Type="http://schemas.openxmlformats.org/officeDocument/2006/relationships/slideLayout" Target="../slideLayouts/slideLayout1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9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7.emf"/><Relationship Id="rId4" Type="http://schemas.openxmlformats.org/officeDocument/2006/relationships/image" Target="../media/image2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mailto:Profpaulo.sampaio@fiap.com.br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30.emf"/><Relationship Id="rId4" Type="http://schemas.openxmlformats.org/officeDocument/2006/relationships/hyperlink" Target="https://www.linkedin.com/in/profpaulosampaio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674039" y="3081534"/>
            <a:ext cx="5783223" cy="682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198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2" cstate="print"/>
          <a:srcRect l="21424" r="22056"/>
          <a:stretch/>
        </p:blipFill>
        <p:spPr>
          <a:xfrm>
            <a:off x="281166" y="2655462"/>
            <a:ext cx="9155651" cy="278985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32919" y="6295596"/>
            <a:ext cx="3617077" cy="2898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400" dirty="0">
                <a:solidFill>
                  <a:srgbClr val="303030"/>
                </a:solidFill>
                <a:latin typeface="Gotham-Bold"/>
                <a:cs typeface="Gotham-Bold"/>
              </a:rPr>
              <a:t>SETEMBRO/2025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1011882" y="4898189"/>
            <a:ext cx="3617077" cy="346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dirty="0">
                <a:solidFill>
                  <a:srgbClr val="FFFFFF"/>
                </a:solidFill>
                <a:latin typeface="Gotham-Bold"/>
                <a:cs typeface="Gotham-Bold"/>
              </a:rPr>
              <a:t>PROF. Me. PAULO SAMPAIO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966" y="3145118"/>
            <a:ext cx="72000" cy="17265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15">
            <a:extLst>
              <a:ext uri="{FF2B5EF4-FFF2-40B4-BE49-F238E27FC236}">
                <a16:creationId xmlns:a16="http://schemas.microsoft.com/office/drawing/2014/main" id="{EA16A613-6823-E55A-4CF9-852C00F685B9}"/>
              </a:ext>
            </a:extLst>
          </p:cNvPr>
          <p:cNvSpPr txBox="1"/>
          <p:nvPr/>
        </p:nvSpPr>
        <p:spPr>
          <a:xfrm>
            <a:off x="1011882" y="3293781"/>
            <a:ext cx="7166918" cy="543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  <a:latin typeface="Gotham-Bold"/>
                <a:cs typeface="Gotham-Bold"/>
              </a:rPr>
              <a:t>ENGENHARIA DE SW</a:t>
            </a:r>
          </a:p>
        </p:txBody>
      </p:sp>
      <p:sp>
        <p:nvSpPr>
          <p:cNvPr id="4" name="TextBox 20">
            <a:extLst>
              <a:ext uri="{FF2B5EF4-FFF2-40B4-BE49-F238E27FC236}">
                <a16:creationId xmlns:a16="http://schemas.microsoft.com/office/drawing/2014/main" id="{60F12A6D-3EE5-FD25-A64E-376A6DD799EE}"/>
              </a:ext>
            </a:extLst>
          </p:cNvPr>
          <p:cNvSpPr txBox="1"/>
          <p:nvPr/>
        </p:nvSpPr>
        <p:spPr>
          <a:xfrm>
            <a:off x="1011882" y="3857840"/>
            <a:ext cx="5984663" cy="397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200" dirty="0">
                <a:solidFill>
                  <a:srgbClr val="FFFFFF"/>
                </a:solidFill>
                <a:latin typeface="Gotham-Book"/>
                <a:cs typeface="Gotham-Book"/>
              </a:rPr>
              <a:t>TESTING, COMPLIANCE &amp; QUALITY ASSURANCE</a:t>
            </a:r>
          </a:p>
        </p:txBody>
      </p:sp>
    </p:spTree>
    <p:extLst>
      <p:ext uri="{BB962C8B-B14F-4D97-AF65-F5344CB8AC3E}">
        <p14:creationId xmlns:p14="http://schemas.microsoft.com/office/powerpoint/2010/main" val="648820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pt-BR" sz="4800" dirty="0"/>
              <a:t>INTRODUÇÃO AO TOGAF</a:t>
            </a:r>
            <a:r>
              <a:rPr lang="pt-BR" sz="4800" dirty="0">
                <a:latin typeface="Calibri"/>
                <a:cs typeface="Calibri"/>
              </a:rPr>
              <a:t>®</a:t>
            </a:r>
            <a:br>
              <a:rPr lang="pt-BR" sz="4800" dirty="0">
                <a:latin typeface="Calibri"/>
                <a:cs typeface="Calibri"/>
              </a:rPr>
            </a:br>
            <a:br>
              <a:rPr lang="pt-BR" sz="4800" dirty="0">
                <a:latin typeface="Calibri"/>
                <a:cs typeface="Calibri"/>
              </a:rPr>
            </a:br>
            <a:br>
              <a:rPr lang="pt-BR" sz="4800" dirty="0">
                <a:latin typeface="Calibri"/>
                <a:cs typeface="Calibri"/>
              </a:rPr>
            </a:br>
            <a:r>
              <a:rPr lang="en-US" sz="4800" i="1" dirty="0">
                <a:solidFill>
                  <a:srgbClr val="0000FF"/>
                </a:solidFill>
                <a:cs typeface="Calibri"/>
              </a:rPr>
              <a:t>T</a:t>
            </a:r>
            <a:r>
              <a:rPr lang="en-US" sz="4800" i="1" dirty="0">
                <a:cs typeface="Calibri"/>
              </a:rPr>
              <a:t>he </a:t>
            </a:r>
            <a:r>
              <a:rPr lang="en-US" sz="4800" i="1" dirty="0">
                <a:solidFill>
                  <a:srgbClr val="0000FF"/>
                </a:solidFill>
                <a:cs typeface="Calibri"/>
              </a:rPr>
              <a:t>O</a:t>
            </a:r>
            <a:r>
              <a:rPr lang="en-US" sz="4800" i="1" dirty="0">
                <a:cs typeface="Calibri"/>
              </a:rPr>
              <a:t>pen </a:t>
            </a:r>
            <a:r>
              <a:rPr lang="en-US" sz="4800" i="1" dirty="0">
                <a:solidFill>
                  <a:srgbClr val="0000FF"/>
                </a:solidFill>
                <a:cs typeface="Calibri"/>
              </a:rPr>
              <a:t>G</a:t>
            </a:r>
            <a:r>
              <a:rPr lang="en-US" sz="4800" i="1" dirty="0">
                <a:cs typeface="Calibri"/>
              </a:rPr>
              <a:t>roup </a:t>
            </a:r>
            <a:r>
              <a:rPr lang="en-US" sz="4800" i="1" dirty="0">
                <a:solidFill>
                  <a:srgbClr val="0000FF"/>
                </a:solidFill>
                <a:cs typeface="Calibri"/>
              </a:rPr>
              <a:t>A</a:t>
            </a:r>
            <a:r>
              <a:rPr lang="en-US" sz="4800" i="1" dirty="0">
                <a:cs typeface="Calibri"/>
              </a:rPr>
              <a:t>rchitecture </a:t>
            </a:r>
            <a:r>
              <a:rPr lang="en-US" sz="4800" i="1" dirty="0">
                <a:solidFill>
                  <a:srgbClr val="0000FF"/>
                </a:solidFill>
                <a:cs typeface="Calibri"/>
              </a:rPr>
              <a:t>F</a:t>
            </a:r>
            <a:r>
              <a:rPr lang="en-US" sz="4800" i="1" dirty="0">
                <a:cs typeface="Calibri"/>
              </a:rPr>
              <a:t>ramework</a:t>
            </a:r>
            <a:endParaRPr lang="en-US" sz="4800" i="1" dirty="0"/>
          </a:p>
        </p:txBody>
      </p:sp>
      <p:pic>
        <p:nvPicPr>
          <p:cNvPr id="4" name="Picture 1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0986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1C2E7-153A-43D0-51B6-367E989A0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8DB47-631B-927D-DC3C-705B483D3F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330641"/>
            <a:ext cx="9144000" cy="5519609"/>
          </a:xfrm>
        </p:spPr>
        <p:txBody>
          <a:bodyPr>
            <a:noAutofit/>
          </a:bodyPr>
          <a:lstStyle/>
          <a:p>
            <a:r>
              <a:rPr lang="pt-BR" sz="4800" dirty="0"/>
              <a:t>INTRODUÇÃO AO TOGAF</a:t>
            </a:r>
            <a:r>
              <a:rPr lang="pt-BR" sz="4800" dirty="0">
                <a:latin typeface="Calibri"/>
                <a:cs typeface="Calibri"/>
              </a:rPr>
              <a:t>®</a:t>
            </a:r>
            <a:br>
              <a:rPr lang="pt-BR" sz="4800" dirty="0">
                <a:latin typeface="Calibri"/>
                <a:cs typeface="Calibri"/>
              </a:rPr>
            </a:br>
            <a:r>
              <a:rPr lang="en-US" sz="4800" i="1" dirty="0">
                <a:solidFill>
                  <a:srgbClr val="0000FF"/>
                </a:solidFill>
                <a:cs typeface="Calibri"/>
              </a:rPr>
              <a:t>Vamos </a:t>
            </a:r>
            <a:r>
              <a:rPr lang="en-US" sz="4800" i="1" dirty="0" err="1">
                <a:solidFill>
                  <a:srgbClr val="0000FF"/>
                </a:solidFill>
                <a:cs typeface="Calibri"/>
              </a:rPr>
              <a:t>utilizar</a:t>
            </a:r>
            <a:r>
              <a:rPr lang="en-US" sz="4800" i="1" dirty="0">
                <a:solidFill>
                  <a:srgbClr val="0000FF"/>
                </a:solidFill>
                <a:cs typeface="Calibri"/>
              </a:rPr>
              <a:t> o Software </a:t>
            </a:r>
            <a:r>
              <a:rPr lang="en-US" sz="4800" i="1" dirty="0" err="1">
                <a:solidFill>
                  <a:srgbClr val="0000FF"/>
                </a:solidFill>
                <a:cs typeface="Calibri"/>
              </a:rPr>
              <a:t>Archimate</a:t>
            </a:r>
            <a:r>
              <a:rPr lang="en-US" sz="4800" i="1" dirty="0">
                <a:solidFill>
                  <a:srgbClr val="0000FF"/>
                </a:solidFill>
                <a:cs typeface="Calibri"/>
              </a:rPr>
              <a:t>® v 5.5</a:t>
            </a:r>
            <a:br>
              <a:rPr lang="en-US" sz="4800" i="1" dirty="0">
                <a:solidFill>
                  <a:srgbClr val="0000FF"/>
                </a:solidFill>
                <a:cs typeface="Calibri"/>
              </a:rPr>
            </a:br>
            <a:br>
              <a:rPr lang="en-US" sz="4800" i="1" dirty="0">
                <a:solidFill>
                  <a:srgbClr val="0000FF"/>
                </a:solidFill>
                <a:cs typeface="Calibri"/>
              </a:rPr>
            </a:br>
            <a:r>
              <a:rPr lang="en-US" sz="3600" dirty="0" err="1">
                <a:cs typeface="Calibri"/>
              </a:rPr>
              <a:t>disponível</a:t>
            </a:r>
            <a:r>
              <a:rPr lang="en-US" sz="3600" dirty="0">
                <a:cs typeface="Calibri"/>
              </a:rPr>
              <a:t> </a:t>
            </a:r>
            <a:r>
              <a:rPr lang="en-US" sz="3600" dirty="0" err="1">
                <a:cs typeface="Calibri"/>
              </a:rPr>
              <a:t>em</a:t>
            </a:r>
            <a:r>
              <a:rPr lang="en-US" sz="3600" dirty="0">
                <a:cs typeface="Calibri"/>
              </a:rPr>
              <a:t>:</a:t>
            </a:r>
            <a:br>
              <a:rPr lang="en-US" sz="3600" dirty="0">
                <a:cs typeface="Calibri"/>
              </a:rPr>
            </a:br>
            <a:br>
              <a:rPr lang="en-US" sz="4800" i="1" dirty="0">
                <a:solidFill>
                  <a:srgbClr val="0000FF"/>
                </a:solidFill>
                <a:cs typeface="Calibri"/>
              </a:rPr>
            </a:br>
            <a:r>
              <a:rPr lang="pt-BR" sz="2800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https://www.archimatetool.com/download/</a:t>
            </a:r>
            <a:br>
              <a:rPr lang="pt-BR" sz="2800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pt-BR" sz="2800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Utilize a opção “Windows Installer”</a:t>
            </a:r>
            <a:br>
              <a:rPr lang="en-US" sz="4800" i="1" dirty="0">
                <a:solidFill>
                  <a:srgbClr val="0000FF"/>
                </a:solidFill>
                <a:cs typeface="Calibri"/>
              </a:rPr>
            </a:br>
            <a:endParaRPr lang="en-US" sz="4800" i="1" dirty="0"/>
          </a:p>
        </p:txBody>
      </p:sp>
      <p:pic>
        <p:nvPicPr>
          <p:cNvPr id="4" name="Picture 18">
            <a:extLst>
              <a:ext uri="{FF2B5EF4-FFF2-40B4-BE49-F238E27FC236}">
                <a16:creationId xmlns:a16="http://schemas.microsoft.com/office/drawing/2014/main" id="{A94E115F-108D-9A42-BA27-238AF86EA371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0817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tângulo 20"/>
          <p:cNvSpPr/>
          <p:nvPr/>
        </p:nvSpPr>
        <p:spPr>
          <a:xfrm>
            <a:off x="310844" y="206207"/>
            <a:ext cx="3569439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457200">
              <a:spcBef>
                <a:spcPct val="0"/>
              </a:spcBef>
              <a:defRPr/>
            </a:pPr>
            <a:r>
              <a:rPr lang="pt-BR" altLang="pt-BR" sz="3600" b="1" dirty="0" err="1">
                <a:solidFill>
                  <a:schemeClr val="accent1"/>
                </a:solidFill>
              </a:rPr>
              <a:t>Archimate</a:t>
            </a:r>
            <a:r>
              <a:rPr lang="pt-BR" altLang="pt-BR" sz="3600" b="1" dirty="0">
                <a:solidFill>
                  <a:schemeClr val="accent1"/>
                </a:solidFill>
              </a:rPr>
              <a:t>®</a:t>
            </a:r>
          </a:p>
          <a:p>
            <a:pPr lvl="0" defTabSz="457200">
              <a:spcBef>
                <a:spcPct val="0"/>
              </a:spcBef>
              <a:defRPr/>
            </a:pPr>
            <a:r>
              <a:rPr lang="pt-BR" altLang="pt-BR" sz="2800" b="1" dirty="0">
                <a:solidFill>
                  <a:schemeClr val="accent1"/>
                </a:solidFill>
              </a:rPr>
              <a:t>Download e Instalação</a:t>
            </a:r>
          </a:p>
        </p:txBody>
      </p:sp>
      <p:sp>
        <p:nvSpPr>
          <p:cNvPr id="25" name="Rectangle 20">
            <a:extLst>
              <a:ext uri="{FF2B5EF4-FFF2-40B4-BE49-F238E27FC236}">
                <a16:creationId xmlns:a16="http://schemas.microsoft.com/office/drawing/2014/main" id="{6C6F1108-F501-AD65-D7AA-58472DB16978}"/>
              </a:ext>
            </a:extLst>
          </p:cNvPr>
          <p:cNvSpPr/>
          <p:nvPr/>
        </p:nvSpPr>
        <p:spPr>
          <a:xfrm flipH="1">
            <a:off x="194728" y="168966"/>
            <a:ext cx="45719" cy="1063487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EEED9A2A-085D-B2E3-0416-82E4F19713F9}"/>
              </a:ext>
            </a:extLst>
          </p:cNvPr>
          <p:cNvSpPr/>
          <p:nvPr/>
        </p:nvSpPr>
        <p:spPr>
          <a:xfrm>
            <a:off x="493172" y="1551563"/>
            <a:ext cx="80163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</a:rPr>
              <a:t>https://www.archimatetool.com/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AF9779E-29E8-B967-5017-65BCA8377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3713" y="2281366"/>
            <a:ext cx="5075262" cy="3331436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A2D06A82-1FDF-A418-4A76-B6C90B1109E4}"/>
              </a:ext>
            </a:extLst>
          </p:cNvPr>
          <p:cNvSpPr/>
          <p:nvPr/>
        </p:nvSpPr>
        <p:spPr>
          <a:xfrm>
            <a:off x="563827" y="5880940"/>
            <a:ext cx="80163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</a:rPr>
              <a:t>Next &gt; Next &gt;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</a:rPr>
              <a:t>Finish</a:t>
            </a:r>
            <a:endParaRPr kumimoji="0" lang="pt-BR" altLang="pt-BR" sz="2400" b="0" i="0" u="none" strike="noStrike" cap="none" normalizeH="0" baseline="0" dirty="0">
              <a:ln>
                <a:noFill/>
              </a:ln>
              <a:solidFill>
                <a:schemeClr val="accent1"/>
              </a:solidFill>
              <a:effectLst/>
            </a:endParaRPr>
          </a:p>
        </p:txBody>
      </p:sp>
      <p:pic>
        <p:nvPicPr>
          <p:cNvPr id="3" name="Picture 18">
            <a:extLst>
              <a:ext uri="{FF2B5EF4-FFF2-40B4-BE49-F238E27FC236}">
                <a16:creationId xmlns:a16="http://schemas.microsoft.com/office/drawing/2014/main" id="{F8896198-43FC-574A-1CC9-BEBA294E943A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841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140" y="37480"/>
            <a:ext cx="8183880" cy="1051560"/>
          </a:xfrm>
        </p:spPr>
        <p:txBody>
          <a:bodyPr>
            <a:normAutofit fontScale="90000"/>
          </a:bodyPr>
          <a:lstStyle/>
          <a:p>
            <a:br>
              <a:rPr lang="pt-BR" sz="4400" dirty="0"/>
            </a:br>
            <a:br>
              <a:rPr lang="pt-BR" sz="4400" dirty="0"/>
            </a:br>
            <a:r>
              <a:rPr lang="pt-BR" sz="4400" dirty="0"/>
              <a:t>ARQUITETURA DE SOLUÇÕES</a:t>
            </a:r>
            <a:br>
              <a:rPr lang="pt-BR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766888"/>
            <a:ext cx="8183880" cy="4408134"/>
          </a:xfrm>
        </p:spPr>
        <p:txBody>
          <a:bodyPr>
            <a:noAutofit/>
          </a:bodyPr>
          <a:lstStyle/>
          <a:p>
            <a:pPr algn="just"/>
            <a:r>
              <a:rPr lang="pt-BR" b="1" dirty="0"/>
              <a:t>TOGAF</a:t>
            </a:r>
            <a:r>
              <a:rPr lang="pt-BR" b="1" dirty="0">
                <a:latin typeface="Calibri"/>
                <a:cs typeface="Calibri"/>
              </a:rPr>
              <a:t>®</a:t>
            </a:r>
            <a:r>
              <a:rPr lang="pt-BR" b="1" dirty="0"/>
              <a:t> é um </a:t>
            </a:r>
            <a:r>
              <a:rPr lang="pt-BR" b="1" i="1" dirty="0">
                <a:solidFill>
                  <a:srgbClr val="0000FF"/>
                </a:solidFill>
              </a:rPr>
              <a:t>framework</a:t>
            </a:r>
            <a:r>
              <a:rPr lang="pt-BR" b="1" dirty="0"/>
              <a:t> (estrutura de trabalho) de arquitetura de soluções.</a:t>
            </a:r>
          </a:p>
          <a:p>
            <a:pPr algn="just"/>
            <a:r>
              <a:rPr lang="pt-BR" b="1" dirty="0"/>
              <a:t>Parte da </a:t>
            </a:r>
            <a:r>
              <a:rPr lang="pt-BR" b="1" dirty="0">
                <a:solidFill>
                  <a:srgbClr val="C00000"/>
                </a:solidFill>
              </a:rPr>
              <a:t>compreensão das diretrizes de negócio;</a:t>
            </a:r>
            <a:r>
              <a:rPr lang="pt-BR" b="1" dirty="0"/>
              <a:t> </a:t>
            </a:r>
          </a:p>
          <a:p>
            <a:pPr algn="just"/>
            <a:r>
              <a:rPr lang="pt-BR" b="1" dirty="0"/>
              <a:t>Cria uma visão de entregas de TI e </a:t>
            </a:r>
          </a:p>
          <a:p>
            <a:pPr algn="just"/>
            <a:r>
              <a:rPr lang="pt-BR" b="1" dirty="0"/>
              <a:t>Desenha os processos que serão modificados pelas </a:t>
            </a:r>
            <a:r>
              <a:rPr lang="pt-BR" b="1" dirty="0">
                <a:solidFill>
                  <a:srgbClr val="C00000"/>
                </a:solidFill>
              </a:rPr>
              <a:t>novas soluções </a:t>
            </a:r>
            <a:r>
              <a:rPr lang="pt-BR" b="1" dirty="0"/>
              <a:t>que serão desenvolvidas.</a:t>
            </a:r>
            <a:endParaRPr lang="en-US" dirty="0"/>
          </a:p>
        </p:txBody>
      </p:sp>
      <p:pic>
        <p:nvPicPr>
          <p:cNvPr id="4" name="Picture 1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03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140" y="37480"/>
            <a:ext cx="8183880" cy="1051560"/>
          </a:xfrm>
        </p:spPr>
        <p:txBody>
          <a:bodyPr>
            <a:normAutofit fontScale="90000"/>
          </a:bodyPr>
          <a:lstStyle/>
          <a:p>
            <a:br>
              <a:rPr lang="pt-BR" sz="4400" dirty="0"/>
            </a:br>
            <a:br>
              <a:rPr lang="pt-BR" sz="4400" dirty="0"/>
            </a:br>
            <a:r>
              <a:rPr lang="pt-BR" sz="4400" dirty="0"/>
              <a:t>ARQUITETURA DE SOLUÇÕES</a:t>
            </a:r>
            <a:br>
              <a:rPr lang="pt-BR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527048"/>
            <a:ext cx="8183880" cy="4187952"/>
          </a:xfrm>
        </p:spPr>
        <p:txBody>
          <a:bodyPr>
            <a:noAutofit/>
          </a:bodyPr>
          <a:lstStyle/>
          <a:p>
            <a:pPr algn="just"/>
            <a:r>
              <a:rPr lang="pt-BR" sz="2800" b="1" dirty="0"/>
              <a:t>Desenha as soluções de dados e aplicações fazendo um link com as disciplinas de </a:t>
            </a:r>
            <a:r>
              <a:rPr lang="pt-BR" sz="2800" b="1" dirty="0">
                <a:solidFill>
                  <a:srgbClr val="C00000"/>
                </a:solidFill>
              </a:rPr>
              <a:t>Engenharia/Design de SW</a:t>
            </a:r>
            <a:r>
              <a:rPr lang="pt-BR" sz="2800" b="1" dirty="0"/>
              <a:t> e modelagem de </a:t>
            </a:r>
            <a:r>
              <a:rPr lang="pt-BR" sz="2800" b="1" dirty="0">
                <a:solidFill>
                  <a:srgbClr val="C00000"/>
                </a:solidFill>
              </a:rPr>
              <a:t>Banco de Dados</a:t>
            </a:r>
            <a:r>
              <a:rPr lang="pt-BR" sz="2800" b="1" dirty="0"/>
              <a:t>.</a:t>
            </a:r>
          </a:p>
          <a:p>
            <a:pPr algn="just">
              <a:buNone/>
            </a:pPr>
            <a:endParaRPr lang="pt-BR" sz="2800" b="1" dirty="0"/>
          </a:p>
          <a:p>
            <a:pPr algn="just"/>
            <a:r>
              <a:rPr lang="pt-BR" sz="2800" b="1" dirty="0"/>
              <a:t>Caminha para a implementação e </a:t>
            </a:r>
            <a:r>
              <a:rPr lang="pt-BR" sz="2800" b="1" dirty="0">
                <a:solidFill>
                  <a:srgbClr val="C00000"/>
                </a:solidFill>
              </a:rPr>
              <a:t>Gestão de Mudanças</a:t>
            </a:r>
            <a:r>
              <a:rPr lang="pt-BR" sz="2800" b="1" dirty="0"/>
              <a:t> fazendo link com:</a:t>
            </a:r>
          </a:p>
          <a:p>
            <a:pPr lvl="1" algn="just"/>
            <a:r>
              <a:rPr lang="pt-BR" sz="2400" b="1" dirty="0"/>
              <a:t>Planejamento e </a:t>
            </a:r>
            <a:r>
              <a:rPr lang="pt-BR" sz="2400" b="1" dirty="0">
                <a:solidFill>
                  <a:srgbClr val="C00000"/>
                </a:solidFill>
              </a:rPr>
              <a:t>controle ágil </a:t>
            </a:r>
            <a:r>
              <a:rPr lang="pt-BR" sz="2400" b="1" dirty="0"/>
              <a:t>de projetos;</a:t>
            </a:r>
          </a:p>
          <a:p>
            <a:pPr lvl="1" algn="just"/>
            <a:r>
              <a:rPr lang="pt-BR" sz="2400" b="1" dirty="0"/>
              <a:t>Disciplinas técnicas de programação;</a:t>
            </a:r>
          </a:p>
          <a:p>
            <a:pPr lvl="1" algn="just"/>
            <a:r>
              <a:rPr lang="pt-BR" sz="2400" b="1" dirty="0"/>
              <a:t>Gestão da </a:t>
            </a:r>
            <a:r>
              <a:rPr lang="pt-BR" sz="2400" b="1" dirty="0">
                <a:solidFill>
                  <a:srgbClr val="C00000"/>
                </a:solidFill>
              </a:rPr>
              <a:t>Qualidade de SW</a:t>
            </a:r>
            <a:r>
              <a:rPr lang="pt-BR" sz="2400" b="1" dirty="0"/>
              <a:t> e </a:t>
            </a:r>
          </a:p>
          <a:p>
            <a:pPr lvl="1" algn="just"/>
            <a:r>
              <a:rPr lang="pt-BR" sz="2400" b="1" dirty="0"/>
              <a:t>Gestão de </a:t>
            </a:r>
            <a:r>
              <a:rPr lang="pt-BR" sz="2400" b="1" dirty="0">
                <a:solidFill>
                  <a:srgbClr val="C00000"/>
                </a:solidFill>
              </a:rPr>
              <a:t>infraestrutura</a:t>
            </a:r>
            <a:r>
              <a:rPr lang="pt-BR" sz="2400" b="1" dirty="0"/>
              <a:t>.</a:t>
            </a:r>
            <a:endParaRPr lang="pt-BR" sz="2400" dirty="0"/>
          </a:p>
          <a:p>
            <a:pPr algn="just"/>
            <a:endParaRPr lang="pt-BR" sz="2800" dirty="0"/>
          </a:p>
          <a:p>
            <a:pPr algn="just"/>
            <a:endParaRPr lang="pt-BR" sz="2800" dirty="0"/>
          </a:p>
          <a:p>
            <a:pPr algn="just"/>
            <a:endParaRPr lang="en-US" sz="2800" dirty="0"/>
          </a:p>
        </p:txBody>
      </p:sp>
      <p:pic>
        <p:nvPicPr>
          <p:cNvPr id="4" name="Picture 1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03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527048"/>
            <a:ext cx="8183880" cy="4187952"/>
          </a:xfrm>
        </p:spPr>
        <p:txBody>
          <a:bodyPr>
            <a:normAutofit/>
          </a:bodyPr>
          <a:lstStyle/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en-US" dirty="0"/>
          </a:p>
        </p:txBody>
      </p:sp>
      <p:pic>
        <p:nvPicPr>
          <p:cNvPr id="6" name="Picture 1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7" name="Título 6"/>
          <p:cNvSpPr>
            <a:spLocks noGrp="1"/>
          </p:cNvSpPr>
          <p:nvPr>
            <p:ph type="title"/>
          </p:nvPr>
        </p:nvSpPr>
        <p:spPr>
          <a:xfrm>
            <a:off x="-22480" y="-130092"/>
            <a:ext cx="8229600" cy="1143000"/>
          </a:xfrm>
        </p:spPr>
        <p:txBody>
          <a:bodyPr/>
          <a:lstStyle/>
          <a:p>
            <a:r>
              <a:rPr lang="pt-BR" dirty="0"/>
              <a:t>Visão Geral do TOGAF</a:t>
            </a:r>
            <a:r>
              <a:rPr lang="pt-BR" dirty="0">
                <a:latin typeface="Calibri"/>
                <a:cs typeface="Calibri"/>
              </a:rPr>
              <a:t>®</a:t>
            </a:r>
            <a:r>
              <a:rPr lang="pt-BR" dirty="0"/>
              <a:t> – ADM </a:t>
            </a:r>
          </a:p>
        </p:txBody>
      </p:sp>
      <p:pic>
        <p:nvPicPr>
          <p:cNvPr id="16385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4072" y="2063330"/>
            <a:ext cx="8730156" cy="45173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tângulo 8"/>
          <p:cNvSpPr/>
          <p:nvPr/>
        </p:nvSpPr>
        <p:spPr>
          <a:xfrm>
            <a:off x="139122" y="1203882"/>
            <a:ext cx="892992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dirty="0"/>
              <a:t>TOGAF-ADM representa o </a:t>
            </a:r>
            <a:r>
              <a:rPr lang="pt-BR" sz="2400" u="sng" dirty="0"/>
              <a:t>ciclo de vida </a:t>
            </a:r>
            <a:r>
              <a:rPr lang="pt-BR" sz="2400" dirty="0"/>
              <a:t>dos trabalhos de arquitetura.</a:t>
            </a:r>
          </a:p>
        </p:txBody>
      </p:sp>
      <p:sp>
        <p:nvSpPr>
          <p:cNvPr id="2" name="Seta: para Baixo 1">
            <a:extLst>
              <a:ext uri="{FF2B5EF4-FFF2-40B4-BE49-F238E27FC236}">
                <a16:creationId xmlns:a16="http://schemas.microsoft.com/office/drawing/2014/main" id="{49229292-3B2A-9DDA-37D9-F78C4E6F7724}"/>
              </a:ext>
            </a:extLst>
          </p:cNvPr>
          <p:cNvSpPr/>
          <p:nvPr/>
        </p:nvSpPr>
        <p:spPr>
          <a:xfrm rot="5400000">
            <a:off x="5631091" y="2099727"/>
            <a:ext cx="480448" cy="588935"/>
          </a:xfrm>
          <a:prstGeom prst="downArrow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Seta: para Baixo 3">
            <a:extLst>
              <a:ext uri="{FF2B5EF4-FFF2-40B4-BE49-F238E27FC236}">
                <a16:creationId xmlns:a16="http://schemas.microsoft.com/office/drawing/2014/main" id="{CD249F34-B84B-739A-D99B-16052BEA247C}"/>
              </a:ext>
            </a:extLst>
          </p:cNvPr>
          <p:cNvSpPr/>
          <p:nvPr/>
        </p:nvSpPr>
        <p:spPr>
          <a:xfrm rot="3009155">
            <a:off x="5613049" y="2818993"/>
            <a:ext cx="480448" cy="588935"/>
          </a:xfrm>
          <a:prstGeom prst="downArrow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Seta: para Baixo 4">
            <a:extLst>
              <a:ext uri="{FF2B5EF4-FFF2-40B4-BE49-F238E27FC236}">
                <a16:creationId xmlns:a16="http://schemas.microsoft.com/office/drawing/2014/main" id="{75351689-4A8F-9196-49F2-FA065509D6DF}"/>
              </a:ext>
            </a:extLst>
          </p:cNvPr>
          <p:cNvSpPr/>
          <p:nvPr/>
        </p:nvSpPr>
        <p:spPr>
          <a:xfrm rot="3009155">
            <a:off x="7674326" y="3200340"/>
            <a:ext cx="480448" cy="588935"/>
          </a:xfrm>
          <a:prstGeom prst="downArrow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Seta: para Baixo 7">
            <a:extLst>
              <a:ext uri="{FF2B5EF4-FFF2-40B4-BE49-F238E27FC236}">
                <a16:creationId xmlns:a16="http://schemas.microsoft.com/office/drawing/2014/main" id="{73E1DEE9-42FE-2651-6732-4F48E37A20DA}"/>
              </a:ext>
            </a:extLst>
          </p:cNvPr>
          <p:cNvSpPr/>
          <p:nvPr/>
        </p:nvSpPr>
        <p:spPr>
          <a:xfrm rot="3009155">
            <a:off x="8483351" y="4027536"/>
            <a:ext cx="480448" cy="588935"/>
          </a:xfrm>
          <a:prstGeom prst="downArrow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Seta: para Baixo 9">
            <a:extLst>
              <a:ext uri="{FF2B5EF4-FFF2-40B4-BE49-F238E27FC236}">
                <a16:creationId xmlns:a16="http://schemas.microsoft.com/office/drawing/2014/main" id="{01BA2982-609C-586E-D1A5-198D7B802B9C}"/>
              </a:ext>
            </a:extLst>
          </p:cNvPr>
          <p:cNvSpPr/>
          <p:nvPr/>
        </p:nvSpPr>
        <p:spPr>
          <a:xfrm rot="5400000">
            <a:off x="7968794" y="5450027"/>
            <a:ext cx="480448" cy="588935"/>
          </a:xfrm>
          <a:prstGeom prst="downArrow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Seta: para Baixo 10">
            <a:extLst>
              <a:ext uri="{FF2B5EF4-FFF2-40B4-BE49-F238E27FC236}">
                <a16:creationId xmlns:a16="http://schemas.microsoft.com/office/drawing/2014/main" id="{BAC5542F-B6CB-10D8-81C0-66522858F6FC}"/>
              </a:ext>
            </a:extLst>
          </p:cNvPr>
          <p:cNvSpPr/>
          <p:nvPr/>
        </p:nvSpPr>
        <p:spPr>
          <a:xfrm rot="6248358">
            <a:off x="5605594" y="6151917"/>
            <a:ext cx="480448" cy="588935"/>
          </a:xfrm>
          <a:prstGeom prst="downArrow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Seta: para Baixo 11">
            <a:extLst>
              <a:ext uri="{FF2B5EF4-FFF2-40B4-BE49-F238E27FC236}">
                <a16:creationId xmlns:a16="http://schemas.microsoft.com/office/drawing/2014/main" id="{FB566B5F-34B0-6DC1-147C-1651F35CCD07}"/>
              </a:ext>
            </a:extLst>
          </p:cNvPr>
          <p:cNvSpPr/>
          <p:nvPr/>
        </p:nvSpPr>
        <p:spPr>
          <a:xfrm rot="13753020">
            <a:off x="922521" y="5986585"/>
            <a:ext cx="480448" cy="588935"/>
          </a:xfrm>
          <a:prstGeom prst="downArrow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Seta: para Baixo 12">
            <a:extLst>
              <a:ext uri="{FF2B5EF4-FFF2-40B4-BE49-F238E27FC236}">
                <a16:creationId xmlns:a16="http://schemas.microsoft.com/office/drawing/2014/main" id="{E057970E-B964-5918-0CAA-08E46494E00C}"/>
              </a:ext>
            </a:extLst>
          </p:cNvPr>
          <p:cNvSpPr/>
          <p:nvPr/>
        </p:nvSpPr>
        <p:spPr>
          <a:xfrm rot="13018987">
            <a:off x="325709" y="5142200"/>
            <a:ext cx="480448" cy="588935"/>
          </a:xfrm>
          <a:prstGeom prst="downArrow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Seta: para Baixo 13">
            <a:extLst>
              <a:ext uri="{FF2B5EF4-FFF2-40B4-BE49-F238E27FC236}">
                <a16:creationId xmlns:a16="http://schemas.microsoft.com/office/drawing/2014/main" id="{583AECB5-EDE2-9171-AB6C-15E509ECD933}"/>
              </a:ext>
            </a:extLst>
          </p:cNvPr>
          <p:cNvSpPr/>
          <p:nvPr/>
        </p:nvSpPr>
        <p:spPr>
          <a:xfrm rot="18016414">
            <a:off x="678119" y="3249617"/>
            <a:ext cx="480448" cy="588935"/>
          </a:xfrm>
          <a:prstGeom prst="downArrow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3033E565-F133-2360-EAF0-925F60D528AD}"/>
              </a:ext>
            </a:extLst>
          </p:cNvPr>
          <p:cNvSpPr/>
          <p:nvPr/>
        </p:nvSpPr>
        <p:spPr>
          <a:xfrm>
            <a:off x="2944679" y="4244513"/>
            <a:ext cx="3159112" cy="1182267"/>
          </a:xfrm>
          <a:prstGeom prst="ellipse">
            <a:avLst/>
          </a:prstGeom>
          <a:noFill/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5307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9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2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5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8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00"/>
                            </p:stCondLst>
                            <p:childTnLst>
                              <p:par>
                                <p:cTn id="9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1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0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500"/>
                            </p:stCondLst>
                            <p:childTnLst>
                              <p:par>
                                <p:cTn id="10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4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4" grpId="0" animBg="1"/>
      <p:bldP spid="4" grpId="1" animBg="1"/>
      <p:bldP spid="5" grpId="0" animBg="1"/>
      <p:bldP spid="5" grpId="1" animBg="1"/>
      <p:bldP spid="8" grpId="0" animBg="1"/>
      <p:bldP spid="8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pic>
        <p:nvPicPr>
          <p:cNvPr id="15361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6699" y="2038112"/>
            <a:ext cx="8223863" cy="42372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ítulo 6"/>
          <p:cNvSpPr>
            <a:spLocks noGrp="1"/>
          </p:cNvSpPr>
          <p:nvPr>
            <p:ph type="title"/>
          </p:nvPr>
        </p:nvSpPr>
        <p:spPr>
          <a:xfrm>
            <a:off x="-22480" y="-85122"/>
            <a:ext cx="8229600" cy="1143000"/>
          </a:xfrm>
        </p:spPr>
        <p:txBody>
          <a:bodyPr/>
          <a:lstStyle/>
          <a:p>
            <a:r>
              <a:rPr lang="pt-BR" dirty="0"/>
              <a:t>Visão Geral do TOGAF</a:t>
            </a:r>
            <a:r>
              <a:rPr lang="pt-BR" dirty="0">
                <a:latin typeface="Calibri"/>
                <a:cs typeface="Calibri"/>
              </a:rPr>
              <a:t>®</a:t>
            </a:r>
            <a:r>
              <a:rPr lang="pt-BR" dirty="0"/>
              <a:t> – ADM </a:t>
            </a:r>
          </a:p>
        </p:txBody>
      </p:sp>
      <p:sp>
        <p:nvSpPr>
          <p:cNvPr id="9" name="Retângulo 8"/>
          <p:cNvSpPr/>
          <p:nvPr/>
        </p:nvSpPr>
        <p:spPr>
          <a:xfrm>
            <a:off x="0" y="1274352"/>
            <a:ext cx="9144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dirty="0"/>
              <a:t>Nas atividades de arquitetura, o TOGAF trabalha os domínios...</a:t>
            </a:r>
          </a:p>
        </p:txBody>
      </p:sp>
    </p:spTree>
    <p:extLst>
      <p:ext uri="{BB962C8B-B14F-4D97-AF65-F5344CB8AC3E}">
        <p14:creationId xmlns:p14="http://schemas.microsoft.com/office/powerpoint/2010/main" val="32281939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pic>
        <p:nvPicPr>
          <p:cNvPr id="14337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8763" y="1495518"/>
            <a:ext cx="6086475" cy="1228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tângulo 8"/>
          <p:cNvSpPr/>
          <p:nvPr/>
        </p:nvSpPr>
        <p:spPr>
          <a:xfrm>
            <a:off x="0" y="898403"/>
            <a:ext cx="9144000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2700" dirty="0"/>
              <a:t>Como o TOGAF busca garantir </a:t>
            </a:r>
            <a:r>
              <a:rPr lang="pt-BR" sz="2700" dirty="0">
                <a:solidFill>
                  <a:srgbClr val="0000FF"/>
                </a:solidFill>
              </a:rPr>
              <a:t>Compliance</a:t>
            </a:r>
            <a:r>
              <a:rPr lang="pt-BR" sz="2700" dirty="0"/>
              <a:t> com a </a:t>
            </a:r>
            <a:r>
              <a:rPr lang="pt-BR" sz="2700" dirty="0">
                <a:solidFill>
                  <a:srgbClr val="0000FF"/>
                </a:solidFill>
              </a:rPr>
              <a:t>Governança</a:t>
            </a:r>
            <a:r>
              <a:rPr lang="pt-BR" sz="2700" dirty="0"/>
              <a:t>?</a:t>
            </a:r>
          </a:p>
        </p:txBody>
      </p:sp>
      <p:sp>
        <p:nvSpPr>
          <p:cNvPr id="10" name="Retângulo 9"/>
          <p:cNvSpPr/>
          <p:nvPr/>
        </p:nvSpPr>
        <p:spPr>
          <a:xfrm>
            <a:off x="1026825" y="2669690"/>
            <a:ext cx="2136099" cy="4247317"/>
          </a:xfrm>
          <a:prstGeom prst="rect">
            <a:avLst/>
          </a:prstGeom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dirty="0"/>
              <a:t>ESTRATÉGIA:</a:t>
            </a:r>
          </a:p>
          <a:p>
            <a:r>
              <a:rPr lang="pt-BR" dirty="0"/>
              <a:t>• Direcionamento de</a:t>
            </a:r>
          </a:p>
          <a:p>
            <a:r>
              <a:rPr lang="pt-BR" dirty="0"/>
              <a:t>escolhas de </a:t>
            </a:r>
            <a:r>
              <a:rPr lang="pt-BR" b="1" dirty="0"/>
              <a:t>mercados</a:t>
            </a:r>
            <a:r>
              <a:rPr lang="pt-BR" dirty="0"/>
              <a:t> onde a empresa atuará, </a:t>
            </a:r>
            <a:r>
              <a:rPr lang="pt-BR" b="1" dirty="0"/>
              <a:t>produtos e serviços </a:t>
            </a:r>
            <a:r>
              <a:rPr lang="pt-BR" dirty="0"/>
              <a:t>que a empresa oferecerá, </a:t>
            </a:r>
            <a:r>
              <a:rPr lang="pt-BR" b="1" dirty="0"/>
              <a:t>concorrentes</a:t>
            </a:r>
            <a:r>
              <a:rPr lang="pt-BR" dirty="0"/>
              <a:t> que ela enfrentará</a:t>
            </a:r>
          </a:p>
          <a:p>
            <a:r>
              <a:rPr lang="pt-BR" dirty="0"/>
              <a:t>• Valores e políticas a serem respeitados</a:t>
            </a:r>
          </a:p>
          <a:p>
            <a:r>
              <a:rPr lang="pt-BR" dirty="0"/>
              <a:t>• </a:t>
            </a:r>
            <a:r>
              <a:rPr lang="pt-BR" b="1" dirty="0"/>
              <a:t>Regulamentação</a:t>
            </a:r>
            <a:r>
              <a:rPr lang="pt-BR" dirty="0"/>
              <a:t> a qual a empresa esta submetida</a:t>
            </a:r>
          </a:p>
        </p:txBody>
      </p:sp>
      <p:sp>
        <p:nvSpPr>
          <p:cNvPr id="11" name="Título 6"/>
          <p:cNvSpPr>
            <a:spLocks noGrp="1"/>
          </p:cNvSpPr>
          <p:nvPr>
            <p:ph type="title"/>
          </p:nvPr>
        </p:nvSpPr>
        <p:spPr>
          <a:xfrm>
            <a:off x="-22480" y="-85122"/>
            <a:ext cx="8229600" cy="1143000"/>
          </a:xfrm>
        </p:spPr>
        <p:txBody>
          <a:bodyPr/>
          <a:lstStyle/>
          <a:p>
            <a:r>
              <a:rPr lang="pt-BR" dirty="0"/>
              <a:t>Visão Geral do TOGAF</a:t>
            </a:r>
            <a:r>
              <a:rPr lang="pt-BR" dirty="0">
                <a:latin typeface="Calibri"/>
                <a:cs typeface="Calibri"/>
              </a:rPr>
              <a:t>®</a:t>
            </a:r>
            <a:r>
              <a:rPr lang="pt-BR" dirty="0"/>
              <a:t> – ADM 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3402998" y="2797424"/>
            <a:ext cx="2413187" cy="3970318"/>
          </a:xfrm>
          <a:prstGeom prst="rect">
            <a:avLst/>
          </a:prstGeom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dirty="0"/>
              <a:t>CAPACIDADES A SEREM</a:t>
            </a:r>
          </a:p>
          <a:p>
            <a:r>
              <a:rPr lang="pt-BR" dirty="0"/>
              <a:t>MATURADAS:</a:t>
            </a:r>
          </a:p>
          <a:p>
            <a:r>
              <a:rPr lang="pt-BR" dirty="0"/>
              <a:t>• </a:t>
            </a:r>
            <a:r>
              <a:rPr lang="pt-BR" b="1" dirty="0"/>
              <a:t>Competências</a:t>
            </a:r>
            <a:r>
              <a:rPr lang="pt-BR" dirty="0"/>
              <a:t> dos</a:t>
            </a:r>
          </a:p>
          <a:p>
            <a:r>
              <a:rPr lang="pt-BR" dirty="0"/>
              <a:t>profissionais que</a:t>
            </a:r>
          </a:p>
          <a:p>
            <a:r>
              <a:rPr lang="pt-BR" dirty="0"/>
              <a:t>colaboram com a</a:t>
            </a:r>
          </a:p>
          <a:p>
            <a:r>
              <a:rPr lang="pt-BR" dirty="0"/>
              <a:t>empresa</a:t>
            </a:r>
          </a:p>
          <a:p>
            <a:r>
              <a:rPr lang="pt-BR" dirty="0"/>
              <a:t>• </a:t>
            </a:r>
            <a:r>
              <a:rPr lang="pt-BR" b="1" dirty="0"/>
              <a:t>Adequação de terceiros </a:t>
            </a:r>
            <a:r>
              <a:rPr lang="pt-BR" dirty="0"/>
              <a:t>aos processos e regras da empresa</a:t>
            </a:r>
          </a:p>
          <a:p>
            <a:r>
              <a:rPr lang="pt-BR" dirty="0"/>
              <a:t>• Instalações de</a:t>
            </a:r>
          </a:p>
          <a:p>
            <a:r>
              <a:rPr lang="pt-BR" b="1" dirty="0"/>
              <a:t>infraestrutura</a:t>
            </a:r>
            <a:r>
              <a:rPr lang="pt-BR" dirty="0"/>
              <a:t> (</a:t>
            </a:r>
            <a:r>
              <a:rPr lang="pt-BR" dirty="0" err="1"/>
              <a:t>facilities</a:t>
            </a:r>
            <a:r>
              <a:rPr lang="pt-BR" dirty="0"/>
              <a:t>,</a:t>
            </a:r>
          </a:p>
          <a:p>
            <a:r>
              <a:rPr lang="pt-BR" dirty="0"/>
              <a:t>informática,</a:t>
            </a:r>
          </a:p>
          <a:p>
            <a:r>
              <a:rPr lang="pt-BR" dirty="0"/>
              <a:t>telecomunicações)</a:t>
            </a:r>
          </a:p>
        </p:txBody>
      </p:sp>
      <p:sp>
        <p:nvSpPr>
          <p:cNvPr id="13" name="Retângulo 12"/>
          <p:cNvSpPr/>
          <p:nvPr/>
        </p:nvSpPr>
        <p:spPr>
          <a:xfrm>
            <a:off x="6011046" y="2737464"/>
            <a:ext cx="2815078" cy="3970318"/>
          </a:xfrm>
          <a:prstGeom prst="rect">
            <a:avLst/>
          </a:prstGeom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dirty="0"/>
              <a:t>SERVIÇOS E PRODUTOS DE TI:</a:t>
            </a:r>
          </a:p>
          <a:p>
            <a:r>
              <a:rPr lang="pt-BR" dirty="0"/>
              <a:t>• </a:t>
            </a:r>
            <a:r>
              <a:rPr lang="pt-BR" b="1" dirty="0"/>
              <a:t>Software</a:t>
            </a:r>
            <a:r>
              <a:rPr lang="pt-BR" dirty="0"/>
              <a:t> (aplicativos, automação de escritório,</a:t>
            </a:r>
          </a:p>
          <a:p>
            <a:r>
              <a:rPr lang="pt-BR" dirty="0"/>
              <a:t>sistemas integrados de gestão e colaboração)</a:t>
            </a:r>
          </a:p>
          <a:p>
            <a:r>
              <a:rPr lang="pt-BR" dirty="0"/>
              <a:t>• </a:t>
            </a:r>
            <a:r>
              <a:rPr lang="pt-BR" b="1" dirty="0"/>
              <a:t>Hardware</a:t>
            </a:r>
            <a:r>
              <a:rPr lang="pt-BR" dirty="0"/>
              <a:t> (computadores,</a:t>
            </a:r>
          </a:p>
          <a:p>
            <a:r>
              <a:rPr lang="pt-BR" dirty="0"/>
              <a:t>equipamentos de comunicação multimídia)</a:t>
            </a:r>
          </a:p>
          <a:p>
            <a:r>
              <a:rPr lang="pt-BR" dirty="0"/>
              <a:t>• </a:t>
            </a:r>
            <a:r>
              <a:rPr lang="pt-BR" b="1" dirty="0"/>
              <a:t>Serviços</a:t>
            </a:r>
            <a:r>
              <a:rPr lang="pt-BR" dirty="0"/>
              <a:t> (desenvolvimento</a:t>
            </a:r>
          </a:p>
          <a:p>
            <a:r>
              <a:rPr lang="pt-BR" dirty="0"/>
              <a:t>e implantação de projetos,</a:t>
            </a:r>
          </a:p>
          <a:p>
            <a:r>
              <a:rPr lang="pt-BR" dirty="0"/>
              <a:t>suporte e operações,</a:t>
            </a:r>
          </a:p>
          <a:p>
            <a:r>
              <a:rPr lang="pt-BR" dirty="0"/>
              <a:t>segurança de informação)</a:t>
            </a:r>
          </a:p>
        </p:txBody>
      </p:sp>
    </p:spTree>
    <p:extLst>
      <p:ext uri="{BB962C8B-B14F-4D97-AF65-F5344CB8AC3E}">
        <p14:creationId xmlns:p14="http://schemas.microsoft.com/office/powerpoint/2010/main" val="3228193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  <p:bldP spid="1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8" name="Título 6"/>
          <p:cNvSpPr>
            <a:spLocks noGrp="1"/>
          </p:cNvSpPr>
          <p:nvPr>
            <p:ph type="title"/>
          </p:nvPr>
        </p:nvSpPr>
        <p:spPr>
          <a:xfrm>
            <a:off x="-22480" y="-85122"/>
            <a:ext cx="8229600" cy="1143000"/>
          </a:xfrm>
        </p:spPr>
        <p:txBody>
          <a:bodyPr/>
          <a:lstStyle/>
          <a:p>
            <a:r>
              <a:rPr lang="pt-BR" dirty="0"/>
              <a:t>Fase preliminar da Arquitetura</a:t>
            </a:r>
          </a:p>
        </p:txBody>
      </p:sp>
      <p:sp>
        <p:nvSpPr>
          <p:cNvPr id="9" name="Retângulo 8"/>
          <p:cNvSpPr/>
          <p:nvPr/>
        </p:nvSpPr>
        <p:spPr>
          <a:xfrm>
            <a:off x="704537" y="2926587"/>
            <a:ext cx="7899815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pt-BR" sz="3600" dirty="0"/>
              <a:t> Consiste em avaliar qual a </a:t>
            </a:r>
            <a:r>
              <a:rPr lang="pt-BR" sz="3600" dirty="0">
                <a:solidFill>
                  <a:srgbClr val="C00000"/>
                </a:solidFill>
              </a:rPr>
              <a:t>maturidade</a:t>
            </a:r>
            <a:r>
              <a:rPr lang="pt-BR" sz="3600" dirty="0"/>
              <a:t> e</a:t>
            </a:r>
          </a:p>
          <a:p>
            <a:r>
              <a:rPr lang="pt-BR" sz="3600" dirty="0">
                <a:solidFill>
                  <a:srgbClr val="C00000"/>
                </a:solidFill>
              </a:rPr>
              <a:t>capacidade</a:t>
            </a:r>
            <a:r>
              <a:rPr lang="pt-BR" sz="3600" dirty="0"/>
              <a:t> atual da empresa.</a:t>
            </a:r>
          </a:p>
          <a:p>
            <a:endParaRPr lang="pt-BR" sz="3600" dirty="0"/>
          </a:p>
          <a:p>
            <a:pPr>
              <a:buFont typeface="Arial" pitchFamily="34" charset="0"/>
              <a:buChar char="•"/>
            </a:pPr>
            <a:r>
              <a:rPr lang="pt-BR" sz="3600" dirty="0"/>
              <a:t> A avaliação de maturidade e capacidade se baseia nas definições estudadas sobre Qualidade e </a:t>
            </a:r>
            <a:r>
              <a:rPr lang="pt-BR" sz="3600" dirty="0">
                <a:solidFill>
                  <a:srgbClr val="C00000"/>
                </a:solidFill>
              </a:rPr>
              <a:t>ISO/</a:t>
            </a:r>
            <a:r>
              <a:rPr lang="pt-BR" sz="3600" dirty="0" err="1">
                <a:solidFill>
                  <a:srgbClr val="C00000"/>
                </a:solidFill>
              </a:rPr>
              <a:t>CMMi</a:t>
            </a:r>
            <a:r>
              <a:rPr lang="pt-BR" sz="3600" dirty="0">
                <a:solidFill>
                  <a:srgbClr val="C00000"/>
                </a:solidFill>
              </a:rPr>
              <a:t>/MPS.br</a:t>
            </a:r>
            <a:r>
              <a:rPr lang="pt-BR" sz="3600" dirty="0"/>
              <a:t>.</a:t>
            </a:r>
          </a:p>
        </p:txBody>
      </p:sp>
      <p:pic>
        <p:nvPicPr>
          <p:cNvPr id="13313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86745" y="1050482"/>
            <a:ext cx="3617608" cy="18311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228193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8" name="Título 6"/>
          <p:cNvSpPr>
            <a:spLocks noGrp="1"/>
          </p:cNvSpPr>
          <p:nvPr>
            <p:ph type="title"/>
          </p:nvPr>
        </p:nvSpPr>
        <p:spPr>
          <a:xfrm>
            <a:off x="-22480" y="-85122"/>
            <a:ext cx="8229600" cy="1143000"/>
          </a:xfrm>
        </p:spPr>
        <p:txBody>
          <a:bodyPr/>
          <a:lstStyle/>
          <a:p>
            <a:r>
              <a:rPr lang="pt-BR" dirty="0"/>
              <a:t>Fase </a:t>
            </a:r>
            <a:r>
              <a:rPr lang="pt-BR" dirty="0">
                <a:solidFill>
                  <a:srgbClr val="C00000"/>
                </a:solidFill>
              </a:rPr>
              <a:t>preliminar</a:t>
            </a:r>
            <a:r>
              <a:rPr lang="pt-BR" dirty="0"/>
              <a:t> da Arquitetura</a:t>
            </a:r>
          </a:p>
        </p:txBody>
      </p:sp>
      <p:sp>
        <p:nvSpPr>
          <p:cNvPr id="9" name="Retângulo 8"/>
          <p:cNvSpPr/>
          <p:nvPr/>
        </p:nvSpPr>
        <p:spPr>
          <a:xfrm>
            <a:off x="239842" y="2506867"/>
            <a:ext cx="8616261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Font typeface="Arial" pitchFamily="34" charset="0"/>
              <a:buChar char="•"/>
            </a:pPr>
            <a:r>
              <a:rPr lang="pt-BR" sz="3200" dirty="0"/>
              <a:t> Nessa fase, busca-se entender as estratégias e necessidades da empresa: </a:t>
            </a:r>
            <a:r>
              <a:rPr lang="pt-BR" sz="3200" dirty="0">
                <a:solidFill>
                  <a:srgbClr val="C00000"/>
                </a:solidFill>
              </a:rPr>
              <a:t>missão</a:t>
            </a:r>
            <a:r>
              <a:rPr lang="pt-BR" sz="3200" dirty="0"/>
              <a:t>*, </a:t>
            </a:r>
            <a:r>
              <a:rPr lang="pt-BR" sz="3200" dirty="0">
                <a:solidFill>
                  <a:srgbClr val="C00000"/>
                </a:solidFill>
              </a:rPr>
              <a:t>visão</a:t>
            </a:r>
            <a:r>
              <a:rPr lang="pt-BR" sz="3200" dirty="0"/>
              <a:t>*, </a:t>
            </a:r>
            <a:r>
              <a:rPr lang="pt-BR" sz="3200" dirty="0">
                <a:solidFill>
                  <a:srgbClr val="C00000"/>
                </a:solidFill>
              </a:rPr>
              <a:t>objetivos</a:t>
            </a:r>
            <a:r>
              <a:rPr lang="pt-BR" sz="3200" dirty="0"/>
              <a:t>*, </a:t>
            </a:r>
            <a:r>
              <a:rPr lang="pt-BR" sz="3200" dirty="0">
                <a:solidFill>
                  <a:srgbClr val="C00000"/>
                </a:solidFill>
              </a:rPr>
              <a:t>metas</a:t>
            </a:r>
            <a:r>
              <a:rPr lang="pt-BR" sz="3200" dirty="0"/>
              <a:t>* da empresa e das unidades de negócio. Relacionamentos com fornecedores e parceiros;</a:t>
            </a:r>
          </a:p>
          <a:p>
            <a:pPr algn="just">
              <a:buFont typeface="Arial" pitchFamily="34" charset="0"/>
              <a:buChar char="•"/>
            </a:pPr>
            <a:r>
              <a:rPr lang="pt-BR" sz="3200" dirty="0"/>
              <a:t> Canais de </a:t>
            </a:r>
            <a:r>
              <a:rPr lang="pt-BR" sz="3200" dirty="0">
                <a:solidFill>
                  <a:srgbClr val="C00000"/>
                </a:solidFill>
              </a:rPr>
              <a:t>relacionamento com clientes </a:t>
            </a:r>
            <a:r>
              <a:rPr lang="pt-BR" sz="3200" dirty="0"/>
              <a:t>e consumidores e com quem a empresa compete em quais mercados.</a:t>
            </a:r>
          </a:p>
        </p:txBody>
      </p:sp>
      <p:pic>
        <p:nvPicPr>
          <p:cNvPr id="13313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04423" y="1050483"/>
            <a:ext cx="2899930" cy="14678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tângulo 5"/>
          <p:cNvSpPr/>
          <p:nvPr/>
        </p:nvSpPr>
        <p:spPr>
          <a:xfrm>
            <a:off x="209862" y="1057878"/>
            <a:ext cx="577121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800" dirty="0"/>
              <a:t>Consiste em avaliar qual a maturidade e capacidade atual da empresa.</a:t>
            </a:r>
          </a:p>
        </p:txBody>
      </p:sp>
    </p:spTree>
    <p:extLst>
      <p:ext uri="{BB962C8B-B14F-4D97-AF65-F5344CB8AC3E}">
        <p14:creationId xmlns:p14="http://schemas.microsoft.com/office/powerpoint/2010/main" val="3228193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8" name="Título 6"/>
          <p:cNvSpPr>
            <a:spLocks noGrp="1"/>
          </p:cNvSpPr>
          <p:nvPr>
            <p:ph type="title"/>
          </p:nvPr>
        </p:nvSpPr>
        <p:spPr>
          <a:xfrm>
            <a:off x="-22480" y="-85122"/>
            <a:ext cx="8229600" cy="1143000"/>
          </a:xfrm>
        </p:spPr>
        <p:txBody>
          <a:bodyPr/>
          <a:lstStyle/>
          <a:p>
            <a:r>
              <a:rPr lang="pt-BR" dirty="0"/>
              <a:t>Fase </a:t>
            </a:r>
            <a:r>
              <a:rPr lang="pt-BR" dirty="0">
                <a:solidFill>
                  <a:srgbClr val="C00000"/>
                </a:solidFill>
              </a:rPr>
              <a:t>preliminar</a:t>
            </a:r>
            <a:r>
              <a:rPr lang="pt-BR" dirty="0"/>
              <a:t> da Arquitetura</a:t>
            </a:r>
          </a:p>
        </p:txBody>
      </p:sp>
      <p:sp>
        <p:nvSpPr>
          <p:cNvPr id="9" name="Retângulo 8"/>
          <p:cNvSpPr/>
          <p:nvPr/>
        </p:nvSpPr>
        <p:spPr>
          <a:xfrm>
            <a:off x="239842" y="2162097"/>
            <a:ext cx="8616261" cy="44935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600" dirty="0"/>
              <a:t>*</a:t>
            </a:r>
            <a:r>
              <a:rPr lang="pt-BR" sz="2600" dirty="0">
                <a:solidFill>
                  <a:srgbClr val="C00000"/>
                </a:solidFill>
              </a:rPr>
              <a:t>Missão</a:t>
            </a:r>
            <a:r>
              <a:rPr lang="pt-BR" sz="2600" dirty="0"/>
              <a:t>: por que a empresa existe:. </a:t>
            </a:r>
            <a:r>
              <a:rPr lang="pt-BR" sz="2600" dirty="0">
                <a:solidFill>
                  <a:srgbClr val="0000FF"/>
                </a:solidFill>
              </a:rPr>
              <a:t>Exemplo</a:t>
            </a:r>
            <a:r>
              <a:rPr lang="pt-BR" sz="2600" dirty="0"/>
              <a:t>: aproximar pessoas.</a:t>
            </a:r>
          </a:p>
          <a:p>
            <a:r>
              <a:rPr lang="pt-BR" sz="2600" dirty="0"/>
              <a:t>*</a:t>
            </a:r>
            <a:r>
              <a:rPr lang="pt-BR" sz="2600" dirty="0">
                <a:solidFill>
                  <a:srgbClr val="C00000"/>
                </a:solidFill>
              </a:rPr>
              <a:t>Visão</a:t>
            </a:r>
            <a:r>
              <a:rPr lang="pt-BR" sz="2600" dirty="0"/>
              <a:t>: até onde ela quer chegar. </a:t>
            </a:r>
            <a:r>
              <a:rPr lang="pt-BR" sz="2600" dirty="0">
                <a:solidFill>
                  <a:srgbClr val="0000FF"/>
                </a:solidFill>
              </a:rPr>
              <a:t>Exemplo</a:t>
            </a:r>
            <a:r>
              <a:rPr lang="pt-BR" sz="2600" dirty="0"/>
              <a:t>: fornecer soluções de comunicação digital à distância.</a:t>
            </a:r>
          </a:p>
          <a:p>
            <a:r>
              <a:rPr lang="pt-BR" sz="2600" dirty="0"/>
              <a:t>*</a:t>
            </a:r>
            <a:r>
              <a:rPr lang="pt-BR" sz="2600" dirty="0">
                <a:solidFill>
                  <a:srgbClr val="C00000"/>
                </a:solidFill>
              </a:rPr>
              <a:t>Valores</a:t>
            </a:r>
            <a:r>
              <a:rPr lang="pt-BR" sz="2600" dirty="0"/>
              <a:t>: como seus colaboradores devem se comportar e como tratar os relacionamentos de negócio: </a:t>
            </a:r>
            <a:r>
              <a:rPr lang="pt-BR" sz="2600" dirty="0">
                <a:solidFill>
                  <a:srgbClr val="0000FF"/>
                </a:solidFill>
              </a:rPr>
              <a:t>Exemplo</a:t>
            </a:r>
            <a:r>
              <a:rPr lang="pt-BR" sz="2600" dirty="0"/>
              <a:t>: solução de alto desempenho e excelência no suporte ao usuário.</a:t>
            </a:r>
          </a:p>
          <a:p>
            <a:r>
              <a:rPr lang="pt-BR" sz="2600" dirty="0"/>
              <a:t>*</a:t>
            </a:r>
            <a:r>
              <a:rPr lang="pt-BR" sz="2600" dirty="0">
                <a:solidFill>
                  <a:srgbClr val="C00000"/>
                </a:solidFill>
              </a:rPr>
              <a:t>Objetivo</a:t>
            </a:r>
            <a:r>
              <a:rPr lang="pt-BR" sz="2600" dirty="0"/>
              <a:t>: o que ela quer alcançar. </a:t>
            </a:r>
            <a:r>
              <a:rPr lang="pt-BR" sz="2600" dirty="0">
                <a:solidFill>
                  <a:srgbClr val="0000FF"/>
                </a:solidFill>
              </a:rPr>
              <a:t>Exemplo</a:t>
            </a:r>
            <a:r>
              <a:rPr lang="pt-BR" sz="2600" dirty="0"/>
              <a:t>: ser líder no segmento de comunicação à distância.</a:t>
            </a:r>
          </a:p>
          <a:p>
            <a:r>
              <a:rPr lang="pt-BR" sz="2600" dirty="0"/>
              <a:t>*</a:t>
            </a:r>
            <a:r>
              <a:rPr lang="pt-BR" sz="2600" dirty="0">
                <a:solidFill>
                  <a:srgbClr val="C00000"/>
                </a:solidFill>
              </a:rPr>
              <a:t>Meta</a:t>
            </a:r>
            <a:r>
              <a:rPr lang="pt-BR" sz="2600" dirty="0"/>
              <a:t>: alcançar esse objetivo em 12 anos, mediante um investimento de US$ 2Mi.</a:t>
            </a:r>
          </a:p>
        </p:txBody>
      </p:sp>
      <p:pic>
        <p:nvPicPr>
          <p:cNvPr id="13313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94363" y="825633"/>
            <a:ext cx="2899930" cy="14678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tângulo 5"/>
          <p:cNvSpPr/>
          <p:nvPr/>
        </p:nvSpPr>
        <p:spPr>
          <a:xfrm>
            <a:off x="209862" y="1057878"/>
            <a:ext cx="577121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800" dirty="0"/>
              <a:t>Consiste em avaliar qual a maturidade e capacidade atual da empresa.</a:t>
            </a:r>
          </a:p>
        </p:txBody>
      </p:sp>
    </p:spTree>
    <p:extLst>
      <p:ext uri="{BB962C8B-B14F-4D97-AF65-F5344CB8AC3E}">
        <p14:creationId xmlns:p14="http://schemas.microsoft.com/office/powerpoint/2010/main" val="3228193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8" name="Título 6"/>
          <p:cNvSpPr>
            <a:spLocks noGrp="1"/>
          </p:cNvSpPr>
          <p:nvPr>
            <p:ph type="title"/>
          </p:nvPr>
        </p:nvSpPr>
        <p:spPr>
          <a:xfrm>
            <a:off x="-22480" y="-85122"/>
            <a:ext cx="8229600" cy="1143000"/>
          </a:xfrm>
        </p:spPr>
        <p:txBody>
          <a:bodyPr/>
          <a:lstStyle/>
          <a:p>
            <a:r>
              <a:rPr lang="pt-BR" dirty="0"/>
              <a:t>Fase </a:t>
            </a:r>
            <a:r>
              <a:rPr lang="pt-BR" dirty="0">
                <a:solidFill>
                  <a:srgbClr val="C00000"/>
                </a:solidFill>
              </a:rPr>
              <a:t>Visão </a:t>
            </a:r>
            <a:r>
              <a:rPr lang="pt-BR" dirty="0"/>
              <a:t>da Arquitetura</a:t>
            </a:r>
          </a:p>
        </p:txBody>
      </p:sp>
      <p:pic>
        <p:nvPicPr>
          <p:cNvPr id="13313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94363" y="825633"/>
            <a:ext cx="2899930" cy="14678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tângulo 6"/>
          <p:cNvSpPr/>
          <p:nvPr/>
        </p:nvSpPr>
        <p:spPr>
          <a:xfrm>
            <a:off x="217357" y="825633"/>
            <a:ext cx="557700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2400" dirty="0"/>
              <a:t>Consiste em avaliar como as diversas áreas</a:t>
            </a:r>
          </a:p>
          <a:p>
            <a:pPr algn="just"/>
            <a:r>
              <a:rPr lang="pt-BR" sz="2400" dirty="0"/>
              <a:t>da empresa/unidades de negócio estão</a:t>
            </a:r>
          </a:p>
          <a:p>
            <a:pPr algn="just"/>
            <a:r>
              <a:rPr lang="pt-BR" sz="2400" dirty="0">
                <a:solidFill>
                  <a:srgbClr val="C00000"/>
                </a:solidFill>
              </a:rPr>
              <a:t>organizadas</a:t>
            </a:r>
            <a:r>
              <a:rPr lang="pt-BR" sz="2400" dirty="0"/>
              <a:t> e como trabalham a favor das</a:t>
            </a:r>
          </a:p>
          <a:p>
            <a:pPr algn="just"/>
            <a:r>
              <a:rPr lang="pt-BR" sz="2400" dirty="0">
                <a:solidFill>
                  <a:srgbClr val="C00000"/>
                </a:solidFill>
              </a:rPr>
              <a:t>diretrizes</a:t>
            </a:r>
            <a:r>
              <a:rPr lang="pt-BR" sz="2400" dirty="0"/>
              <a:t> da organização.</a:t>
            </a:r>
          </a:p>
        </p:txBody>
      </p:sp>
      <p:sp>
        <p:nvSpPr>
          <p:cNvPr id="10" name="Retângulo 9"/>
          <p:cNvSpPr/>
          <p:nvPr/>
        </p:nvSpPr>
        <p:spPr>
          <a:xfrm>
            <a:off x="112427" y="3065969"/>
            <a:ext cx="8926643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2800" dirty="0"/>
              <a:t>Nesse momento, </a:t>
            </a:r>
            <a:r>
              <a:rPr lang="pt-BR" sz="2800" dirty="0">
                <a:solidFill>
                  <a:srgbClr val="C00000"/>
                </a:solidFill>
              </a:rPr>
              <a:t>stakeholders</a:t>
            </a:r>
            <a:r>
              <a:rPr lang="pt-BR" sz="2800" dirty="0"/>
              <a:t> (pessoas chave e direcionadores) do negócio são </a:t>
            </a:r>
            <a:r>
              <a:rPr lang="pt-BR" sz="2800" dirty="0">
                <a:solidFill>
                  <a:srgbClr val="C00000"/>
                </a:solidFill>
              </a:rPr>
              <a:t>mapeados</a:t>
            </a:r>
            <a:r>
              <a:rPr lang="pt-BR" sz="2800" dirty="0"/>
              <a:t>, são compreendidos os </a:t>
            </a:r>
            <a:r>
              <a:rPr lang="pt-BR" sz="2800" dirty="0">
                <a:solidFill>
                  <a:srgbClr val="C00000"/>
                </a:solidFill>
              </a:rPr>
              <a:t>escopos</a:t>
            </a:r>
            <a:r>
              <a:rPr lang="pt-BR" sz="2800" dirty="0"/>
              <a:t> de atuação de cada unidade/departamento (</a:t>
            </a:r>
            <a:r>
              <a:rPr lang="pt-BR" sz="2800" dirty="0">
                <a:solidFill>
                  <a:srgbClr val="0000FF"/>
                </a:solidFill>
              </a:rPr>
              <a:t>funções</a:t>
            </a:r>
            <a:r>
              <a:rPr lang="pt-BR" sz="2800" dirty="0"/>
              <a:t>, </a:t>
            </a:r>
            <a:r>
              <a:rPr lang="pt-BR" sz="2800" dirty="0">
                <a:solidFill>
                  <a:srgbClr val="0000FF"/>
                </a:solidFill>
              </a:rPr>
              <a:t>organização interna</a:t>
            </a:r>
            <a:r>
              <a:rPr lang="pt-BR" sz="2800" dirty="0"/>
              <a:t>), descritas suas necessidades de </a:t>
            </a:r>
            <a:r>
              <a:rPr lang="pt-BR" sz="2800" dirty="0">
                <a:solidFill>
                  <a:srgbClr val="C00000"/>
                </a:solidFill>
              </a:rPr>
              <a:t>operação</a:t>
            </a:r>
            <a:r>
              <a:rPr lang="pt-BR" sz="2800" dirty="0"/>
              <a:t> e </a:t>
            </a:r>
            <a:r>
              <a:rPr lang="pt-BR" sz="2800" dirty="0">
                <a:solidFill>
                  <a:srgbClr val="C00000"/>
                </a:solidFill>
              </a:rPr>
              <a:t>projetos</a:t>
            </a:r>
            <a:r>
              <a:rPr lang="pt-BR" sz="2800" dirty="0"/>
              <a:t> e avaliada a </a:t>
            </a:r>
            <a:r>
              <a:rPr lang="pt-BR" sz="2800" dirty="0">
                <a:solidFill>
                  <a:srgbClr val="0000FF"/>
                </a:solidFill>
              </a:rPr>
              <a:t>cobertura</a:t>
            </a:r>
            <a:r>
              <a:rPr lang="pt-BR" sz="2800" dirty="0"/>
              <a:t> que a </a:t>
            </a:r>
            <a:r>
              <a:rPr lang="pt-BR" sz="2800" dirty="0">
                <a:solidFill>
                  <a:srgbClr val="0000FF"/>
                </a:solidFill>
              </a:rPr>
              <a:t>TI</a:t>
            </a:r>
            <a:r>
              <a:rPr lang="pt-BR" sz="2800" dirty="0"/>
              <a:t> dá para essas demandas.</a:t>
            </a:r>
          </a:p>
        </p:txBody>
      </p:sp>
    </p:spTree>
    <p:extLst>
      <p:ext uri="{BB962C8B-B14F-4D97-AF65-F5344CB8AC3E}">
        <p14:creationId xmlns:p14="http://schemas.microsoft.com/office/powerpoint/2010/main" val="32281939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8" name="Título 6"/>
          <p:cNvSpPr>
            <a:spLocks noGrp="1"/>
          </p:cNvSpPr>
          <p:nvPr>
            <p:ph type="title"/>
          </p:nvPr>
        </p:nvSpPr>
        <p:spPr>
          <a:xfrm>
            <a:off x="-22480" y="-85122"/>
            <a:ext cx="8229600" cy="1143000"/>
          </a:xfrm>
        </p:spPr>
        <p:txBody>
          <a:bodyPr/>
          <a:lstStyle/>
          <a:p>
            <a:r>
              <a:rPr lang="pt-BR" dirty="0"/>
              <a:t>Fase </a:t>
            </a:r>
            <a:r>
              <a:rPr lang="pt-BR" dirty="0">
                <a:solidFill>
                  <a:srgbClr val="C00000"/>
                </a:solidFill>
              </a:rPr>
              <a:t>Visão </a:t>
            </a:r>
            <a:r>
              <a:rPr lang="pt-BR" dirty="0"/>
              <a:t>da Arquitetura</a:t>
            </a:r>
          </a:p>
        </p:txBody>
      </p:sp>
      <p:pic>
        <p:nvPicPr>
          <p:cNvPr id="13313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94363" y="825633"/>
            <a:ext cx="2899930" cy="14678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tângulo 6"/>
          <p:cNvSpPr/>
          <p:nvPr/>
        </p:nvSpPr>
        <p:spPr>
          <a:xfrm>
            <a:off x="217357" y="1200383"/>
            <a:ext cx="557700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2800" dirty="0"/>
              <a:t>TI deve mapear que </a:t>
            </a:r>
            <a:r>
              <a:rPr lang="pt-BR" sz="2800" dirty="0">
                <a:solidFill>
                  <a:srgbClr val="C00000"/>
                </a:solidFill>
              </a:rPr>
              <a:t>demandas</a:t>
            </a:r>
            <a:r>
              <a:rPr lang="pt-BR" sz="2800" dirty="0"/>
              <a:t> cada</a:t>
            </a:r>
          </a:p>
          <a:p>
            <a:pPr algn="just"/>
            <a:r>
              <a:rPr lang="pt-BR" sz="2800" dirty="0"/>
              <a:t>divisão/departamento tem.</a:t>
            </a:r>
          </a:p>
        </p:txBody>
      </p:sp>
      <p:sp>
        <p:nvSpPr>
          <p:cNvPr id="9" name="Retângulo 8"/>
          <p:cNvSpPr/>
          <p:nvPr/>
        </p:nvSpPr>
        <p:spPr>
          <a:xfrm>
            <a:off x="217357" y="2519790"/>
            <a:ext cx="8608767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Font typeface="Wingdings" pitchFamily="2" charset="2"/>
              <a:buChar char="v"/>
            </a:pPr>
            <a:r>
              <a:rPr lang="pt-BR" sz="2800" dirty="0"/>
              <a:t> Que macro atividades cada </a:t>
            </a:r>
            <a:r>
              <a:rPr lang="pt-BR" sz="2800" dirty="0">
                <a:solidFill>
                  <a:srgbClr val="C00000"/>
                </a:solidFill>
              </a:rPr>
              <a:t>divisão</a:t>
            </a:r>
            <a:r>
              <a:rPr lang="pt-BR" sz="2800" dirty="0"/>
              <a:t> executa;</a:t>
            </a:r>
          </a:p>
          <a:p>
            <a:pPr algn="just">
              <a:buFont typeface="Wingdings" pitchFamily="2" charset="2"/>
              <a:buChar char="v"/>
            </a:pPr>
            <a:r>
              <a:rPr lang="pt-BR" sz="2800" dirty="0"/>
              <a:t> Qual a demanda </a:t>
            </a:r>
            <a:r>
              <a:rPr lang="pt-BR" sz="2800" dirty="0">
                <a:solidFill>
                  <a:srgbClr val="C00000"/>
                </a:solidFill>
              </a:rPr>
              <a:t>tecnológica</a:t>
            </a:r>
            <a:r>
              <a:rPr lang="pt-BR" sz="2800" dirty="0"/>
              <a:t> de cada macro atividade;</a:t>
            </a:r>
          </a:p>
          <a:p>
            <a:pPr algn="just">
              <a:buFont typeface="Wingdings" pitchFamily="2" charset="2"/>
              <a:buChar char="v"/>
            </a:pPr>
            <a:r>
              <a:rPr lang="pt-BR" sz="2800" dirty="0"/>
              <a:t> Qual a </a:t>
            </a:r>
            <a:r>
              <a:rPr lang="pt-BR" sz="2800" dirty="0">
                <a:solidFill>
                  <a:srgbClr val="C00000"/>
                </a:solidFill>
              </a:rPr>
              <a:t>disponibilidade</a:t>
            </a:r>
            <a:r>
              <a:rPr lang="pt-BR" sz="2800" dirty="0"/>
              <a:t> e </a:t>
            </a:r>
            <a:r>
              <a:rPr lang="pt-BR" sz="2800" dirty="0">
                <a:solidFill>
                  <a:srgbClr val="C00000"/>
                </a:solidFill>
              </a:rPr>
              <a:t>desempenho</a:t>
            </a:r>
            <a:r>
              <a:rPr lang="pt-BR" sz="2800" dirty="0"/>
              <a:t> necessários para a tecnologia a ser provida (foco na disponibilidade de aplicações);</a:t>
            </a:r>
          </a:p>
          <a:p>
            <a:pPr algn="just">
              <a:buFont typeface="Wingdings" pitchFamily="2" charset="2"/>
              <a:buChar char="v"/>
            </a:pPr>
            <a:r>
              <a:rPr lang="pt-BR" sz="2800" dirty="0"/>
              <a:t> Quais </a:t>
            </a:r>
            <a:r>
              <a:rPr lang="pt-BR" sz="2800" dirty="0">
                <a:solidFill>
                  <a:srgbClr val="C00000"/>
                </a:solidFill>
              </a:rPr>
              <a:t>serviços</a:t>
            </a:r>
            <a:r>
              <a:rPr lang="pt-BR" sz="2800" dirty="0"/>
              <a:t> estão associados a essas soluções tecnológicas. </a:t>
            </a:r>
          </a:p>
          <a:p>
            <a:pPr algn="just"/>
            <a:endParaRPr lang="pt-BR" sz="2800" dirty="0"/>
          </a:p>
          <a:p>
            <a:pPr algn="just"/>
            <a:r>
              <a:rPr lang="pt-BR" sz="2800" dirty="0"/>
              <a:t>Discussões sobre </a:t>
            </a:r>
            <a:r>
              <a:rPr lang="pt-BR" sz="2800" dirty="0">
                <a:solidFill>
                  <a:srgbClr val="C00000"/>
                </a:solidFill>
              </a:rPr>
              <a:t>prioridades</a:t>
            </a:r>
            <a:r>
              <a:rPr lang="pt-BR" sz="2800" dirty="0"/>
              <a:t> no atendimento das demandas acontecem já nessa fase.</a:t>
            </a:r>
          </a:p>
        </p:txBody>
      </p:sp>
    </p:spTree>
    <p:extLst>
      <p:ext uri="{BB962C8B-B14F-4D97-AF65-F5344CB8AC3E}">
        <p14:creationId xmlns:p14="http://schemas.microsoft.com/office/powerpoint/2010/main" val="3228193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8" name="Título 6"/>
          <p:cNvSpPr>
            <a:spLocks noGrp="1"/>
          </p:cNvSpPr>
          <p:nvPr>
            <p:ph type="title"/>
          </p:nvPr>
        </p:nvSpPr>
        <p:spPr>
          <a:xfrm>
            <a:off x="-22480" y="-85122"/>
            <a:ext cx="8229600" cy="1143000"/>
          </a:xfrm>
        </p:spPr>
        <p:txBody>
          <a:bodyPr/>
          <a:lstStyle/>
          <a:p>
            <a:r>
              <a:rPr lang="pt-BR" dirty="0"/>
              <a:t>Fase </a:t>
            </a:r>
            <a:r>
              <a:rPr lang="pt-BR" dirty="0">
                <a:solidFill>
                  <a:srgbClr val="C00000"/>
                </a:solidFill>
              </a:rPr>
              <a:t>Visão </a:t>
            </a:r>
            <a:r>
              <a:rPr lang="pt-BR" dirty="0"/>
              <a:t>da Arquitetura</a:t>
            </a:r>
          </a:p>
        </p:txBody>
      </p:sp>
      <p:pic>
        <p:nvPicPr>
          <p:cNvPr id="9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94363" y="825633"/>
            <a:ext cx="2899930" cy="14678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Retângulo 9"/>
          <p:cNvSpPr/>
          <p:nvPr/>
        </p:nvSpPr>
        <p:spPr>
          <a:xfrm>
            <a:off x="284813" y="1057878"/>
            <a:ext cx="550955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2400" dirty="0"/>
              <a:t>O resultado dos estudos precisam ser</a:t>
            </a:r>
          </a:p>
          <a:p>
            <a:pPr algn="just"/>
            <a:r>
              <a:rPr lang="pt-BR" sz="2400" dirty="0">
                <a:solidFill>
                  <a:srgbClr val="C00000"/>
                </a:solidFill>
              </a:rPr>
              <a:t>documentados</a:t>
            </a:r>
            <a:r>
              <a:rPr lang="pt-BR" sz="2400" dirty="0"/>
              <a:t> e </a:t>
            </a:r>
            <a:r>
              <a:rPr lang="pt-BR" sz="2400" dirty="0">
                <a:solidFill>
                  <a:srgbClr val="C00000"/>
                </a:solidFill>
              </a:rPr>
              <a:t>guardados</a:t>
            </a:r>
            <a:r>
              <a:rPr lang="pt-BR" sz="2400" dirty="0"/>
              <a:t> entre os</a:t>
            </a:r>
          </a:p>
          <a:p>
            <a:pPr algn="just"/>
            <a:r>
              <a:rPr lang="pt-BR" sz="2400" dirty="0"/>
              <a:t>requisitos em um desenho de arquitetura.</a:t>
            </a:r>
          </a:p>
        </p:txBody>
      </p:sp>
      <p:sp>
        <p:nvSpPr>
          <p:cNvPr id="11" name="Retângulo 10"/>
          <p:cNvSpPr/>
          <p:nvPr/>
        </p:nvSpPr>
        <p:spPr>
          <a:xfrm>
            <a:off x="209860" y="2690336"/>
            <a:ext cx="8694293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800" dirty="0"/>
              <a:t>A partir dessa fase, inicia-se a </a:t>
            </a:r>
            <a:r>
              <a:rPr lang="pt-BR" sz="2800" dirty="0">
                <a:solidFill>
                  <a:srgbClr val="C00000"/>
                </a:solidFill>
              </a:rPr>
              <a:t>documentação</a:t>
            </a:r>
            <a:r>
              <a:rPr lang="pt-BR" sz="2800" dirty="0"/>
              <a:t> que explica a proposta da arquitetura e seu encaminhamento.</a:t>
            </a:r>
          </a:p>
          <a:p>
            <a:endParaRPr lang="pt-BR" sz="2800" dirty="0"/>
          </a:p>
          <a:p>
            <a:r>
              <a:rPr lang="pt-BR" sz="2800" dirty="0"/>
              <a:t>Essa documentação pode ser feita com </a:t>
            </a:r>
            <a:r>
              <a:rPr lang="pt-BR" sz="2800" dirty="0">
                <a:solidFill>
                  <a:srgbClr val="C00000"/>
                </a:solidFill>
              </a:rPr>
              <a:t>diagramas</a:t>
            </a:r>
            <a:r>
              <a:rPr lang="pt-BR" sz="2800" dirty="0"/>
              <a:t>*.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0" y="5552416"/>
            <a:ext cx="9144000" cy="4616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pt-BR" sz="2400" dirty="0"/>
              <a:t>*O software </a:t>
            </a:r>
            <a:r>
              <a:rPr lang="pt-BR" sz="2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ARCHIMATE</a:t>
            </a:r>
            <a:r>
              <a:rPr lang="pt-BR" sz="2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cs typeface="Calibri"/>
              </a:rPr>
              <a:t>®</a:t>
            </a:r>
            <a:r>
              <a:rPr lang="pt-BR" sz="2400" dirty="0"/>
              <a:t> será utilizado para gerar essa documentação.</a:t>
            </a:r>
          </a:p>
        </p:txBody>
      </p:sp>
    </p:spTree>
    <p:extLst>
      <p:ext uri="{BB962C8B-B14F-4D97-AF65-F5344CB8AC3E}">
        <p14:creationId xmlns:p14="http://schemas.microsoft.com/office/powerpoint/2010/main" val="593294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8" name="Título 6"/>
          <p:cNvSpPr>
            <a:spLocks noGrp="1"/>
          </p:cNvSpPr>
          <p:nvPr>
            <p:ph type="title"/>
          </p:nvPr>
        </p:nvSpPr>
        <p:spPr>
          <a:xfrm>
            <a:off x="-22480" y="-85122"/>
            <a:ext cx="8229600" cy="1143000"/>
          </a:xfrm>
        </p:spPr>
        <p:txBody>
          <a:bodyPr/>
          <a:lstStyle/>
          <a:p>
            <a:r>
              <a:rPr lang="pt-BR" dirty="0"/>
              <a:t>Fase </a:t>
            </a:r>
            <a:r>
              <a:rPr lang="pt-BR" dirty="0">
                <a:solidFill>
                  <a:srgbClr val="C00000"/>
                </a:solidFill>
              </a:rPr>
              <a:t>Visão </a:t>
            </a:r>
            <a:r>
              <a:rPr lang="pt-BR" dirty="0"/>
              <a:t>da Arquitetura</a:t>
            </a:r>
          </a:p>
        </p:txBody>
      </p:sp>
      <p:pic>
        <p:nvPicPr>
          <p:cNvPr id="9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94363" y="825633"/>
            <a:ext cx="2899930" cy="14678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Retângulo 9"/>
          <p:cNvSpPr/>
          <p:nvPr/>
        </p:nvSpPr>
        <p:spPr>
          <a:xfrm>
            <a:off x="284813" y="1057878"/>
            <a:ext cx="55095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2400" dirty="0"/>
              <a:t>Vamos utilizar o SW </a:t>
            </a:r>
            <a:r>
              <a:rPr lang="pt-BR" sz="2400" dirty="0" err="1"/>
              <a:t>Archimate</a:t>
            </a:r>
            <a:r>
              <a:rPr lang="pt-BR" sz="2400" dirty="0">
                <a:latin typeface="Calibri"/>
                <a:cs typeface="Calibri"/>
              </a:rPr>
              <a:t>®</a:t>
            </a:r>
            <a:endParaRPr lang="pt-BR" sz="2400" dirty="0"/>
          </a:p>
        </p:txBody>
      </p:sp>
      <p:sp>
        <p:nvSpPr>
          <p:cNvPr id="11" name="Retângulo 10"/>
          <p:cNvSpPr/>
          <p:nvPr/>
        </p:nvSpPr>
        <p:spPr>
          <a:xfrm>
            <a:off x="209860" y="2345566"/>
            <a:ext cx="869429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800" dirty="0"/>
              <a:t>Use os seguintes elementos para documentar a demanda da estratégia de negócio:</a:t>
            </a:r>
          </a:p>
        </p:txBody>
      </p:sp>
      <p:pic>
        <p:nvPicPr>
          <p:cNvPr id="58370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40459" y="3428999"/>
            <a:ext cx="6071489" cy="32266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Retângulo 12"/>
          <p:cNvSpPr/>
          <p:nvPr/>
        </p:nvSpPr>
        <p:spPr>
          <a:xfrm>
            <a:off x="6325838" y="3261481"/>
            <a:ext cx="2728216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/>
              <a:t>Exemplos:</a:t>
            </a:r>
          </a:p>
          <a:p>
            <a:r>
              <a:rPr lang="pt-BR" b="1" dirty="0"/>
              <a:t>-</a:t>
            </a:r>
            <a:r>
              <a:rPr lang="pt-BR" b="1" dirty="0">
                <a:solidFill>
                  <a:srgbClr val="C00000"/>
                </a:solidFill>
              </a:rPr>
              <a:t>Stakeholder</a:t>
            </a:r>
            <a:r>
              <a:rPr lang="pt-BR" b="1" dirty="0"/>
              <a:t>: diretor de</a:t>
            </a:r>
          </a:p>
          <a:p>
            <a:r>
              <a:rPr lang="pt-BR" b="1" dirty="0"/>
              <a:t>Marketing.</a:t>
            </a:r>
          </a:p>
          <a:p>
            <a:r>
              <a:rPr lang="pt-BR" b="1" dirty="0"/>
              <a:t>-</a:t>
            </a:r>
            <a:r>
              <a:rPr lang="pt-BR" b="1" dirty="0">
                <a:solidFill>
                  <a:srgbClr val="C00000"/>
                </a:solidFill>
              </a:rPr>
              <a:t>Abordagem</a:t>
            </a:r>
            <a:r>
              <a:rPr lang="pt-BR" b="1" dirty="0"/>
              <a:t>: melhorar a</a:t>
            </a:r>
          </a:p>
          <a:p>
            <a:r>
              <a:rPr lang="pt-BR" b="1" dirty="0"/>
              <a:t>decisão sobre descontos</a:t>
            </a:r>
          </a:p>
          <a:p>
            <a:r>
              <a:rPr lang="pt-BR" b="1" dirty="0"/>
              <a:t>dados aos clientes.</a:t>
            </a:r>
          </a:p>
          <a:p>
            <a:r>
              <a:rPr lang="pt-BR" b="1" dirty="0"/>
              <a:t>-</a:t>
            </a:r>
            <a:r>
              <a:rPr lang="pt-BR" b="1" dirty="0" err="1">
                <a:solidFill>
                  <a:srgbClr val="C00000"/>
                </a:solidFill>
              </a:rPr>
              <a:t>Driver</a:t>
            </a:r>
            <a:r>
              <a:rPr lang="pt-BR" b="1" dirty="0"/>
              <a:t>: avaliar o % de</a:t>
            </a:r>
          </a:p>
          <a:p>
            <a:r>
              <a:rPr lang="pt-BR" b="1" dirty="0"/>
              <a:t>decisões de desconto que</a:t>
            </a:r>
          </a:p>
          <a:p>
            <a:r>
              <a:rPr lang="pt-BR" b="1" dirty="0"/>
              <a:t>foram apoiadas por dados de sistema de informação sobre os clientes.</a:t>
            </a:r>
          </a:p>
        </p:txBody>
      </p:sp>
    </p:spTree>
    <p:extLst>
      <p:ext uri="{BB962C8B-B14F-4D97-AF65-F5344CB8AC3E}">
        <p14:creationId xmlns:p14="http://schemas.microsoft.com/office/powerpoint/2010/main" val="2689660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8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500"/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8" name="Título 6"/>
          <p:cNvSpPr>
            <a:spLocks noGrp="1"/>
          </p:cNvSpPr>
          <p:nvPr>
            <p:ph type="title"/>
          </p:nvPr>
        </p:nvSpPr>
        <p:spPr>
          <a:xfrm>
            <a:off x="-22480" y="-85122"/>
            <a:ext cx="8229600" cy="1143000"/>
          </a:xfrm>
        </p:spPr>
        <p:txBody>
          <a:bodyPr/>
          <a:lstStyle/>
          <a:p>
            <a:r>
              <a:rPr lang="pt-BR" dirty="0"/>
              <a:t>Fase </a:t>
            </a:r>
            <a:r>
              <a:rPr lang="pt-BR" dirty="0">
                <a:solidFill>
                  <a:srgbClr val="C00000"/>
                </a:solidFill>
              </a:rPr>
              <a:t>Visão </a:t>
            </a:r>
            <a:r>
              <a:rPr lang="pt-BR" dirty="0"/>
              <a:t>da Arquitetura</a:t>
            </a:r>
          </a:p>
        </p:txBody>
      </p:sp>
      <p:pic>
        <p:nvPicPr>
          <p:cNvPr id="9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94363" y="825633"/>
            <a:ext cx="2899930" cy="14678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Retângulo 9"/>
          <p:cNvSpPr/>
          <p:nvPr/>
        </p:nvSpPr>
        <p:spPr>
          <a:xfrm>
            <a:off x="284813" y="1057878"/>
            <a:ext cx="55095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2400" dirty="0"/>
              <a:t>Vamos utilizar o SW </a:t>
            </a:r>
            <a:r>
              <a:rPr lang="pt-BR" sz="2400" dirty="0" err="1"/>
              <a:t>Archimate</a:t>
            </a:r>
            <a:r>
              <a:rPr lang="pt-BR" sz="2400" dirty="0">
                <a:latin typeface="Calibri"/>
                <a:cs typeface="Calibri"/>
              </a:rPr>
              <a:t>®</a:t>
            </a:r>
            <a:endParaRPr lang="pt-BR" sz="2400" dirty="0"/>
          </a:p>
        </p:txBody>
      </p:sp>
      <p:sp>
        <p:nvSpPr>
          <p:cNvPr id="11" name="Retângulo 10"/>
          <p:cNvSpPr/>
          <p:nvPr/>
        </p:nvSpPr>
        <p:spPr>
          <a:xfrm>
            <a:off x="209860" y="2345566"/>
            <a:ext cx="869429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800" dirty="0"/>
              <a:t>Exemplo:</a:t>
            </a:r>
          </a:p>
        </p:txBody>
      </p:sp>
      <p:pic>
        <p:nvPicPr>
          <p:cNvPr id="59394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54640" y="2868785"/>
            <a:ext cx="8201538" cy="3807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9554675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8" name="Título 6"/>
          <p:cNvSpPr>
            <a:spLocks noGrp="1"/>
          </p:cNvSpPr>
          <p:nvPr>
            <p:ph type="title"/>
          </p:nvPr>
        </p:nvSpPr>
        <p:spPr>
          <a:xfrm>
            <a:off x="-22480" y="-85122"/>
            <a:ext cx="8229600" cy="1143000"/>
          </a:xfrm>
        </p:spPr>
        <p:txBody>
          <a:bodyPr/>
          <a:lstStyle/>
          <a:p>
            <a:r>
              <a:rPr lang="pt-BR" dirty="0"/>
              <a:t>Fase </a:t>
            </a:r>
            <a:r>
              <a:rPr lang="pt-BR" dirty="0">
                <a:solidFill>
                  <a:srgbClr val="C00000"/>
                </a:solidFill>
              </a:rPr>
              <a:t>Visão </a:t>
            </a:r>
            <a:r>
              <a:rPr lang="pt-BR" dirty="0"/>
              <a:t>da Arquitetura</a:t>
            </a:r>
          </a:p>
        </p:txBody>
      </p:sp>
      <p:pic>
        <p:nvPicPr>
          <p:cNvPr id="9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94363" y="825633"/>
            <a:ext cx="2899930" cy="14678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Retângulo 9"/>
          <p:cNvSpPr/>
          <p:nvPr/>
        </p:nvSpPr>
        <p:spPr>
          <a:xfrm>
            <a:off x="284813" y="1057878"/>
            <a:ext cx="550955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2800" dirty="0"/>
              <a:t>Os </a:t>
            </a:r>
            <a:r>
              <a:rPr lang="pt-BR" sz="2800" dirty="0" err="1">
                <a:solidFill>
                  <a:srgbClr val="C00000"/>
                </a:solidFill>
              </a:rPr>
              <a:t>Drivers</a:t>
            </a:r>
            <a:r>
              <a:rPr lang="pt-BR" sz="2800" dirty="0"/>
              <a:t> e a </a:t>
            </a:r>
            <a:r>
              <a:rPr lang="pt-BR" sz="2800" dirty="0">
                <a:solidFill>
                  <a:srgbClr val="C00000"/>
                </a:solidFill>
              </a:rPr>
              <a:t>Abordagem</a:t>
            </a:r>
            <a:r>
              <a:rPr lang="pt-BR" sz="2800" dirty="0"/>
              <a:t> têm que ser traduzidos em objetivos ligados a</a:t>
            </a:r>
          </a:p>
          <a:p>
            <a:pPr algn="just"/>
            <a:r>
              <a:rPr lang="pt-BR" sz="2800" dirty="0"/>
              <a:t>requerimentos/contratos (acordos de fornecimento):</a:t>
            </a:r>
          </a:p>
        </p:txBody>
      </p:sp>
      <p:sp>
        <p:nvSpPr>
          <p:cNvPr id="13" name="Retângulo 12"/>
          <p:cNvSpPr/>
          <p:nvPr/>
        </p:nvSpPr>
        <p:spPr>
          <a:xfrm>
            <a:off x="6325838" y="2811781"/>
            <a:ext cx="2728216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/>
              <a:t>Exemplos:</a:t>
            </a:r>
          </a:p>
          <a:p>
            <a:r>
              <a:rPr lang="pt-BR" b="1" dirty="0"/>
              <a:t>-</a:t>
            </a:r>
            <a:r>
              <a:rPr lang="pt-BR" b="1" dirty="0">
                <a:solidFill>
                  <a:srgbClr val="C00000"/>
                </a:solidFill>
              </a:rPr>
              <a:t>Objetivo</a:t>
            </a:r>
            <a:r>
              <a:rPr lang="pt-BR" b="1" dirty="0"/>
              <a:t>: evitar prejuízo</a:t>
            </a:r>
          </a:p>
          <a:p>
            <a:r>
              <a:rPr lang="pt-BR" b="1" dirty="0"/>
              <a:t>financeiro com </a:t>
            </a:r>
            <a:r>
              <a:rPr lang="pt-BR" b="1" dirty="0">
                <a:solidFill>
                  <a:srgbClr val="0000FF"/>
                </a:solidFill>
              </a:rPr>
              <a:t>descontos</a:t>
            </a:r>
          </a:p>
          <a:p>
            <a:r>
              <a:rPr lang="pt-BR" b="1" dirty="0"/>
              <a:t>-</a:t>
            </a:r>
            <a:r>
              <a:rPr lang="pt-BR" b="1" dirty="0">
                <a:solidFill>
                  <a:srgbClr val="C00000"/>
                </a:solidFill>
              </a:rPr>
              <a:t>Princípio</a:t>
            </a:r>
            <a:r>
              <a:rPr lang="pt-BR" b="1" dirty="0"/>
              <a:t>: projeção de</a:t>
            </a:r>
          </a:p>
          <a:p>
            <a:r>
              <a:rPr lang="pt-BR" b="1" dirty="0">
                <a:solidFill>
                  <a:srgbClr val="0000FF"/>
                </a:solidFill>
              </a:rPr>
              <a:t>desconto</a:t>
            </a:r>
            <a:r>
              <a:rPr lang="pt-BR" b="1" dirty="0"/>
              <a:t> a ser concedido</a:t>
            </a:r>
          </a:p>
          <a:p>
            <a:r>
              <a:rPr lang="pt-BR" b="1" dirty="0"/>
              <a:t>baseado em avaliação de</a:t>
            </a:r>
          </a:p>
          <a:p>
            <a:r>
              <a:rPr lang="pt-BR" b="1" dirty="0">
                <a:solidFill>
                  <a:srgbClr val="0000FF"/>
                </a:solidFill>
              </a:rPr>
              <a:t>perfil do cliente</a:t>
            </a:r>
          </a:p>
          <a:p>
            <a:r>
              <a:rPr lang="pt-BR" b="1" dirty="0"/>
              <a:t>-</a:t>
            </a:r>
            <a:r>
              <a:rPr lang="pt-BR" b="1" dirty="0">
                <a:solidFill>
                  <a:srgbClr val="C00000"/>
                </a:solidFill>
              </a:rPr>
              <a:t>Requisito</a:t>
            </a:r>
            <a:r>
              <a:rPr lang="pt-BR" b="1" dirty="0"/>
              <a:t>: exibir o</a:t>
            </a:r>
          </a:p>
          <a:p>
            <a:r>
              <a:rPr lang="pt-BR" b="1" dirty="0">
                <a:solidFill>
                  <a:srgbClr val="0000FF"/>
                </a:solidFill>
              </a:rPr>
              <a:t>histórico</a:t>
            </a:r>
            <a:r>
              <a:rPr lang="pt-BR" b="1" dirty="0"/>
              <a:t> de compras e</a:t>
            </a:r>
          </a:p>
          <a:p>
            <a:r>
              <a:rPr lang="pt-BR" b="1" dirty="0"/>
              <a:t>pagamentos </a:t>
            </a:r>
            <a:r>
              <a:rPr lang="pt-BR" b="1" dirty="0">
                <a:solidFill>
                  <a:srgbClr val="0000FF"/>
                </a:solidFill>
              </a:rPr>
              <a:t>em dia </a:t>
            </a:r>
            <a:r>
              <a:rPr lang="pt-BR" b="1" dirty="0"/>
              <a:t>e</a:t>
            </a:r>
          </a:p>
          <a:p>
            <a:r>
              <a:rPr lang="pt-BR" b="1" dirty="0">
                <a:solidFill>
                  <a:srgbClr val="0000FF"/>
                </a:solidFill>
              </a:rPr>
              <a:t>atrasados</a:t>
            </a:r>
            <a:r>
              <a:rPr lang="pt-BR" b="1" dirty="0"/>
              <a:t> dos clientes</a:t>
            </a:r>
          </a:p>
          <a:p>
            <a:r>
              <a:rPr lang="pt-BR" b="1" dirty="0"/>
              <a:t>-</a:t>
            </a:r>
            <a:r>
              <a:rPr lang="pt-BR" b="1" dirty="0">
                <a:solidFill>
                  <a:srgbClr val="C00000"/>
                </a:solidFill>
              </a:rPr>
              <a:t>Regras</a:t>
            </a:r>
            <a:r>
              <a:rPr lang="pt-BR" b="1" dirty="0"/>
              <a:t>: não liberar</a:t>
            </a:r>
          </a:p>
          <a:p>
            <a:r>
              <a:rPr lang="pt-BR" b="1" dirty="0"/>
              <a:t>descontos para quem tem</a:t>
            </a:r>
          </a:p>
          <a:p>
            <a:r>
              <a:rPr lang="pt-BR" b="1" dirty="0"/>
              <a:t>histórico de </a:t>
            </a:r>
            <a:r>
              <a:rPr lang="pt-BR" b="1" dirty="0">
                <a:solidFill>
                  <a:srgbClr val="FF0000"/>
                </a:solidFill>
              </a:rPr>
              <a:t>inadimplência</a:t>
            </a:r>
          </a:p>
        </p:txBody>
      </p:sp>
      <p:pic>
        <p:nvPicPr>
          <p:cNvPr id="60418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39843" y="3023660"/>
            <a:ext cx="5951122" cy="3527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964471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0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500"/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500"/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6" dur="500"/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1" dur="500"/>
                                        <p:tgtEl>
                                          <p:spTgt spid="1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4" dur="500"/>
                                        <p:tgtEl>
                                          <p:spTgt spid="1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500"/>
                                        <p:tgtEl>
                                          <p:spTgt spid="1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8" name="Título 6"/>
          <p:cNvSpPr>
            <a:spLocks noGrp="1"/>
          </p:cNvSpPr>
          <p:nvPr>
            <p:ph type="title"/>
          </p:nvPr>
        </p:nvSpPr>
        <p:spPr>
          <a:xfrm>
            <a:off x="-22480" y="-85122"/>
            <a:ext cx="8229600" cy="1143000"/>
          </a:xfrm>
        </p:spPr>
        <p:txBody>
          <a:bodyPr/>
          <a:lstStyle/>
          <a:p>
            <a:r>
              <a:rPr lang="pt-BR" dirty="0"/>
              <a:t>Fase </a:t>
            </a:r>
            <a:r>
              <a:rPr lang="pt-BR" dirty="0">
                <a:solidFill>
                  <a:srgbClr val="C00000"/>
                </a:solidFill>
              </a:rPr>
              <a:t>Visão </a:t>
            </a:r>
            <a:r>
              <a:rPr lang="pt-BR" dirty="0"/>
              <a:t>da Arquitetura</a:t>
            </a:r>
          </a:p>
        </p:txBody>
      </p:sp>
      <p:pic>
        <p:nvPicPr>
          <p:cNvPr id="9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94363" y="825633"/>
            <a:ext cx="2899930" cy="14678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Retângulo 9"/>
          <p:cNvSpPr/>
          <p:nvPr/>
        </p:nvSpPr>
        <p:spPr>
          <a:xfrm>
            <a:off x="284813" y="1057878"/>
            <a:ext cx="55095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2400" dirty="0"/>
              <a:t>Vamos utilizar o SW </a:t>
            </a:r>
            <a:r>
              <a:rPr lang="pt-BR" sz="2400" dirty="0" err="1"/>
              <a:t>Archimate</a:t>
            </a:r>
            <a:r>
              <a:rPr lang="pt-BR" sz="2400" dirty="0">
                <a:latin typeface="Calibri"/>
                <a:cs typeface="Calibri"/>
              </a:rPr>
              <a:t>®</a:t>
            </a:r>
            <a:endParaRPr lang="pt-BR" sz="2400" dirty="0"/>
          </a:p>
        </p:txBody>
      </p:sp>
      <p:sp>
        <p:nvSpPr>
          <p:cNvPr id="11" name="Retângulo 10"/>
          <p:cNvSpPr/>
          <p:nvPr/>
        </p:nvSpPr>
        <p:spPr>
          <a:xfrm>
            <a:off x="209860" y="2345566"/>
            <a:ext cx="869429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800" dirty="0"/>
              <a:t>Exemplo:</a:t>
            </a:r>
          </a:p>
        </p:txBody>
      </p:sp>
      <p:pic>
        <p:nvPicPr>
          <p:cNvPr id="61442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16437" y="2973716"/>
            <a:ext cx="8477452" cy="3576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Balão de Fala: Retângulo com Cantos Arredondados 1">
            <a:extLst>
              <a:ext uri="{FF2B5EF4-FFF2-40B4-BE49-F238E27FC236}">
                <a16:creationId xmlns:a16="http://schemas.microsoft.com/office/drawing/2014/main" id="{08460B4C-E534-FECA-3046-3361E85F434D}"/>
              </a:ext>
            </a:extLst>
          </p:cNvPr>
          <p:cNvSpPr/>
          <p:nvPr/>
        </p:nvSpPr>
        <p:spPr>
          <a:xfrm>
            <a:off x="464024" y="3761200"/>
            <a:ext cx="1296537" cy="461665"/>
          </a:xfrm>
          <a:prstGeom prst="wedgeRoundRectCallout">
            <a:avLst>
              <a:gd name="adj1" fmla="val 37903"/>
              <a:gd name="adj2" fmla="val 161885"/>
              <a:gd name="adj3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ysClr val="windowText" lastClr="000000"/>
                </a:solidFill>
              </a:rPr>
              <a:t>Stakeholder (demandante)</a:t>
            </a:r>
          </a:p>
        </p:txBody>
      </p:sp>
      <p:sp>
        <p:nvSpPr>
          <p:cNvPr id="3" name="Balão de Fala: Retângulo com Cantos Arredondados 2">
            <a:extLst>
              <a:ext uri="{FF2B5EF4-FFF2-40B4-BE49-F238E27FC236}">
                <a16:creationId xmlns:a16="http://schemas.microsoft.com/office/drawing/2014/main" id="{8443984E-8A0D-1256-A19F-9B9F1B8D5E9B}"/>
              </a:ext>
            </a:extLst>
          </p:cNvPr>
          <p:cNvSpPr/>
          <p:nvPr/>
        </p:nvSpPr>
        <p:spPr>
          <a:xfrm>
            <a:off x="3039588" y="5449401"/>
            <a:ext cx="939421" cy="292361"/>
          </a:xfrm>
          <a:prstGeom prst="wedgeRoundRectCallout">
            <a:avLst>
              <a:gd name="adj1" fmla="val 14032"/>
              <a:gd name="adj2" fmla="val -337889"/>
              <a:gd name="adj3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ysClr val="windowText" lastClr="000000"/>
                </a:solidFill>
              </a:rPr>
              <a:t>Diretriz</a:t>
            </a:r>
          </a:p>
        </p:txBody>
      </p:sp>
      <p:sp>
        <p:nvSpPr>
          <p:cNvPr id="4" name="Balão de Fala: Retângulo com Cantos Arredondados 3">
            <a:extLst>
              <a:ext uri="{FF2B5EF4-FFF2-40B4-BE49-F238E27FC236}">
                <a16:creationId xmlns:a16="http://schemas.microsoft.com/office/drawing/2014/main" id="{5A71BF33-6A33-7DD9-357B-B1AC06006880}"/>
              </a:ext>
            </a:extLst>
          </p:cNvPr>
          <p:cNvSpPr/>
          <p:nvPr/>
        </p:nvSpPr>
        <p:spPr>
          <a:xfrm>
            <a:off x="2614683" y="2293500"/>
            <a:ext cx="1152099" cy="425910"/>
          </a:xfrm>
          <a:prstGeom prst="wedgeRoundRectCallout">
            <a:avLst>
              <a:gd name="adj1" fmla="val 63831"/>
              <a:gd name="adj2" fmla="val 129834"/>
              <a:gd name="adj3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ysClr val="windowText" lastClr="000000"/>
                </a:solidFill>
              </a:rPr>
              <a:t>Assessment </a:t>
            </a:r>
          </a:p>
          <a:p>
            <a:pPr algn="ctr"/>
            <a:r>
              <a:rPr lang="pt-BR" sz="1400" dirty="0">
                <a:solidFill>
                  <a:sysClr val="windowText" lastClr="000000"/>
                </a:solidFill>
              </a:rPr>
              <a:t>(avaliação)</a:t>
            </a:r>
          </a:p>
        </p:txBody>
      </p:sp>
      <p:sp>
        <p:nvSpPr>
          <p:cNvPr id="5" name="Balão de Fala: Retângulo com Cantos Arredondados 4">
            <a:extLst>
              <a:ext uri="{FF2B5EF4-FFF2-40B4-BE49-F238E27FC236}">
                <a16:creationId xmlns:a16="http://schemas.microsoft.com/office/drawing/2014/main" id="{23EF858A-AA58-66C8-1771-E4F5F51669D2}"/>
              </a:ext>
            </a:extLst>
          </p:cNvPr>
          <p:cNvSpPr/>
          <p:nvPr/>
        </p:nvSpPr>
        <p:spPr>
          <a:xfrm>
            <a:off x="4979845" y="3845851"/>
            <a:ext cx="939421" cy="292361"/>
          </a:xfrm>
          <a:prstGeom prst="wedgeRoundRectCallout">
            <a:avLst>
              <a:gd name="adj1" fmla="val 37277"/>
              <a:gd name="adj2" fmla="val -244527"/>
              <a:gd name="adj3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ysClr val="windowText" lastClr="000000"/>
                </a:solidFill>
              </a:rPr>
              <a:t>Objetivo</a:t>
            </a:r>
          </a:p>
        </p:txBody>
      </p:sp>
      <p:sp>
        <p:nvSpPr>
          <p:cNvPr id="6" name="Balão de Fala: Retângulo com Cantos Arredondados 5">
            <a:extLst>
              <a:ext uri="{FF2B5EF4-FFF2-40B4-BE49-F238E27FC236}">
                <a16:creationId xmlns:a16="http://schemas.microsoft.com/office/drawing/2014/main" id="{C0C90897-8815-E470-ABE7-6D300F340D15}"/>
              </a:ext>
            </a:extLst>
          </p:cNvPr>
          <p:cNvSpPr/>
          <p:nvPr/>
        </p:nvSpPr>
        <p:spPr>
          <a:xfrm>
            <a:off x="7138466" y="2722605"/>
            <a:ext cx="939421" cy="292361"/>
          </a:xfrm>
          <a:prstGeom prst="wedgeRoundRectCallout">
            <a:avLst>
              <a:gd name="adj1" fmla="val 53258"/>
              <a:gd name="adj2" fmla="val 124254"/>
              <a:gd name="adj3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ysClr val="windowText" lastClr="000000"/>
                </a:solidFill>
              </a:rPr>
              <a:t>Princípio</a:t>
            </a:r>
          </a:p>
        </p:txBody>
      </p:sp>
      <p:sp>
        <p:nvSpPr>
          <p:cNvPr id="7" name="Balão de Fala: Retângulo com Cantos Arredondados 6">
            <a:extLst>
              <a:ext uri="{FF2B5EF4-FFF2-40B4-BE49-F238E27FC236}">
                <a16:creationId xmlns:a16="http://schemas.microsoft.com/office/drawing/2014/main" id="{4C7B6D57-9933-D239-1A37-B61B3B14BBB4}"/>
              </a:ext>
            </a:extLst>
          </p:cNvPr>
          <p:cNvSpPr/>
          <p:nvPr/>
        </p:nvSpPr>
        <p:spPr>
          <a:xfrm>
            <a:off x="4572001" y="4612130"/>
            <a:ext cx="1403428" cy="601315"/>
          </a:xfrm>
          <a:prstGeom prst="wedgeRoundRectCallout">
            <a:avLst>
              <a:gd name="adj1" fmla="val 96842"/>
              <a:gd name="adj2" fmla="val -34462"/>
              <a:gd name="adj3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ysClr val="windowText" lastClr="000000"/>
                </a:solidFill>
              </a:rPr>
              <a:t>Requisito</a:t>
            </a:r>
          </a:p>
          <a:p>
            <a:pPr algn="ctr"/>
            <a:r>
              <a:rPr lang="pt-BR" sz="1400" dirty="0">
                <a:solidFill>
                  <a:sysClr val="windowText" lastClr="000000"/>
                </a:solidFill>
              </a:rPr>
              <a:t>(funcionalidade oferecida)</a:t>
            </a:r>
          </a:p>
        </p:txBody>
      </p:sp>
      <p:sp>
        <p:nvSpPr>
          <p:cNvPr id="12" name="Balão de Fala: Retângulo com Cantos Arredondados 11">
            <a:extLst>
              <a:ext uri="{FF2B5EF4-FFF2-40B4-BE49-F238E27FC236}">
                <a16:creationId xmlns:a16="http://schemas.microsoft.com/office/drawing/2014/main" id="{72E0A510-A8A0-17BC-6F5D-D304E63B3611}"/>
              </a:ext>
            </a:extLst>
          </p:cNvPr>
          <p:cNvSpPr/>
          <p:nvPr/>
        </p:nvSpPr>
        <p:spPr>
          <a:xfrm>
            <a:off x="5131558" y="6032367"/>
            <a:ext cx="1515999" cy="386396"/>
          </a:xfrm>
          <a:prstGeom prst="wedgeRoundRectCallout">
            <a:avLst>
              <a:gd name="adj1" fmla="val 96842"/>
              <a:gd name="adj2" fmla="val -34462"/>
              <a:gd name="adj3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ysClr val="windowText" lastClr="000000"/>
                </a:solidFill>
              </a:rPr>
              <a:t>Restrição</a:t>
            </a:r>
          </a:p>
          <a:p>
            <a:pPr algn="ctr"/>
            <a:r>
              <a:rPr lang="pt-BR" sz="1400" dirty="0">
                <a:solidFill>
                  <a:sysClr val="windowText" lastClr="000000"/>
                </a:solidFill>
              </a:rPr>
              <a:t>(regra ou limite)</a:t>
            </a:r>
          </a:p>
        </p:txBody>
      </p:sp>
    </p:spTree>
    <p:extLst>
      <p:ext uri="{BB962C8B-B14F-4D97-AF65-F5344CB8AC3E}">
        <p14:creationId xmlns:p14="http://schemas.microsoft.com/office/powerpoint/2010/main" val="3550228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1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8" name="Título 6"/>
          <p:cNvSpPr>
            <a:spLocks noGrp="1"/>
          </p:cNvSpPr>
          <p:nvPr>
            <p:ph type="title"/>
          </p:nvPr>
        </p:nvSpPr>
        <p:spPr>
          <a:xfrm>
            <a:off x="-22480" y="-85122"/>
            <a:ext cx="8229600" cy="1143000"/>
          </a:xfrm>
        </p:spPr>
        <p:txBody>
          <a:bodyPr/>
          <a:lstStyle/>
          <a:p>
            <a:r>
              <a:rPr lang="pt-BR" dirty="0"/>
              <a:t>Fase Arquitetura do Negócio</a:t>
            </a:r>
          </a:p>
        </p:txBody>
      </p:sp>
      <p:pic>
        <p:nvPicPr>
          <p:cNvPr id="13313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94363" y="825633"/>
            <a:ext cx="2899930" cy="14678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tângulo 6"/>
          <p:cNvSpPr/>
          <p:nvPr/>
        </p:nvSpPr>
        <p:spPr>
          <a:xfrm>
            <a:off x="217357" y="825633"/>
            <a:ext cx="5577006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2600" dirty="0"/>
              <a:t>Engloba atividades que levam à</a:t>
            </a:r>
          </a:p>
          <a:p>
            <a:pPr algn="just"/>
            <a:r>
              <a:rPr lang="pt-BR" sz="2600" dirty="0"/>
              <a:t>compreensão e </a:t>
            </a:r>
            <a:r>
              <a:rPr lang="pt-BR" sz="2600" dirty="0">
                <a:solidFill>
                  <a:srgbClr val="C00000"/>
                </a:solidFill>
              </a:rPr>
              <a:t>documentação</a:t>
            </a:r>
            <a:r>
              <a:rPr lang="pt-BR" sz="2600" dirty="0"/>
              <a:t> de como a empresa </a:t>
            </a:r>
            <a:r>
              <a:rPr lang="pt-BR" sz="2600" u="sng" dirty="0"/>
              <a:t>opera atualmente</a:t>
            </a:r>
            <a:r>
              <a:rPr lang="pt-BR" sz="2600" dirty="0"/>
              <a:t> e o que deseja </a:t>
            </a:r>
            <a:r>
              <a:rPr lang="pt-BR" sz="2600" dirty="0">
                <a:solidFill>
                  <a:srgbClr val="C00000"/>
                </a:solidFill>
              </a:rPr>
              <a:t>modificar</a:t>
            </a:r>
            <a:r>
              <a:rPr lang="pt-BR" sz="2600" dirty="0"/>
              <a:t> nessas operações.</a:t>
            </a:r>
          </a:p>
        </p:txBody>
      </p:sp>
      <p:sp>
        <p:nvSpPr>
          <p:cNvPr id="10" name="Retângulo 9"/>
          <p:cNvSpPr/>
          <p:nvPr/>
        </p:nvSpPr>
        <p:spPr>
          <a:xfrm>
            <a:off x="112427" y="3065969"/>
            <a:ext cx="8926643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Font typeface="Wingdings" pitchFamily="2" charset="2"/>
              <a:buChar char="v"/>
            </a:pPr>
            <a:r>
              <a:rPr lang="pt-BR" sz="2800" dirty="0"/>
              <a:t> A arquitetura de negócios </a:t>
            </a:r>
            <a:r>
              <a:rPr lang="pt-BR" sz="2800" dirty="0">
                <a:solidFill>
                  <a:srgbClr val="0000FF"/>
                </a:solidFill>
              </a:rPr>
              <a:t>investiga</a:t>
            </a:r>
            <a:r>
              <a:rPr lang="pt-BR" sz="2800" dirty="0"/>
              <a:t> a organização interna de cada departamento/divisão alvo, </a:t>
            </a:r>
            <a:r>
              <a:rPr lang="pt-BR" sz="2800" dirty="0">
                <a:solidFill>
                  <a:srgbClr val="0000FF"/>
                </a:solidFill>
              </a:rPr>
              <a:t>documenta</a:t>
            </a:r>
            <a:r>
              <a:rPr lang="pt-BR" sz="2800" dirty="0"/>
              <a:t> essa organização e o seu funcionamento.</a:t>
            </a:r>
          </a:p>
          <a:p>
            <a:pPr algn="just"/>
            <a:endParaRPr lang="pt-BR" sz="2800" dirty="0"/>
          </a:p>
          <a:p>
            <a:pPr algn="just">
              <a:buFont typeface="Wingdings" pitchFamily="2" charset="2"/>
              <a:buChar char="v"/>
            </a:pPr>
            <a:r>
              <a:rPr lang="pt-BR" sz="2800" dirty="0"/>
              <a:t> </a:t>
            </a:r>
            <a:r>
              <a:rPr lang="pt-BR" sz="2800" u="sng" dirty="0"/>
              <a:t>Desenhos de processos</a:t>
            </a:r>
            <a:r>
              <a:rPr lang="pt-BR" sz="2800" dirty="0"/>
              <a:t> com detalhes das atividades que os compõem e seus </a:t>
            </a:r>
            <a:r>
              <a:rPr lang="pt-BR" sz="2800" dirty="0">
                <a:solidFill>
                  <a:srgbClr val="C00000"/>
                </a:solidFill>
              </a:rPr>
              <a:t>fluxos</a:t>
            </a:r>
            <a:r>
              <a:rPr lang="pt-BR" sz="2800" dirty="0"/>
              <a:t> são importantíssimos para a construção de uma visão inicial de escopo funcional de sistemas.</a:t>
            </a:r>
          </a:p>
        </p:txBody>
      </p:sp>
    </p:spTree>
    <p:extLst>
      <p:ext uri="{BB962C8B-B14F-4D97-AF65-F5344CB8AC3E}">
        <p14:creationId xmlns:p14="http://schemas.microsoft.com/office/powerpoint/2010/main" val="3121685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8" name="Título 6"/>
          <p:cNvSpPr>
            <a:spLocks noGrp="1"/>
          </p:cNvSpPr>
          <p:nvPr>
            <p:ph type="title"/>
          </p:nvPr>
        </p:nvSpPr>
        <p:spPr>
          <a:xfrm>
            <a:off x="-22480" y="-85122"/>
            <a:ext cx="8229600" cy="1143000"/>
          </a:xfrm>
        </p:spPr>
        <p:txBody>
          <a:bodyPr/>
          <a:lstStyle/>
          <a:p>
            <a:r>
              <a:rPr lang="pt-BR" dirty="0"/>
              <a:t>Fase Arquitetura do Negócio</a:t>
            </a:r>
          </a:p>
        </p:txBody>
      </p:sp>
      <p:pic>
        <p:nvPicPr>
          <p:cNvPr id="13313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94363" y="825633"/>
            <a:ext cx="2899930" cy="14678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tângulo 6"/>
          <p:cNvSpPr/>
          <p:nvPr/>
        </p:nvSpPr>
        <p:spPr>
          <a:xfrm>
            <a:off x="217357" y="825633"/>
            <a:ext cx="5577006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2600" dirty="0"/>
              <a:t>A arquitetura precisa registrar os cenários </a:t>
            </a:r>
            <a:r>
              <a:rPr lang="pt-BR" sz="2600" dirty="0">
                <a:solidFill>
                  <a:srgbClr val="C00000"/>
                </a:solidFill>
              </a:rPr>
              <a:t>AS IS </a:t>
            </a:r>
            <a:r>
              <a:rPr lang="pt-BR" sz="2600" dirty="0"/>
              <a:t>(como é hoje) e </a:t>
            </a:r>
            <a:r>
              <a:rPr lang="pt-BR" sz="2600" dirty="0">
                <a:solidFill>
                  <a:srgbClr val="C00000"/>
                </a:solidFill>
              </a:rPr>
              <a:t>TO BE </a:t>
            </a:r>
            <a:r>
              <a:rPr lang="pt-BR" sz="2600" dirty="0"/>
              <a:t>(como será) dos processos estudados.</a:t>
            </a:r>
          </a:p>
        </p:txBody>
      </p:sp>
      <p:sp>
        <p:nvSpPr>
          <p:cNvPr id="10" name="Retângulo 9"/>
          <p:cNvSpPr/>
          <p:nvPr/>
        </p:nvSpPr>
        <p:spPr>
          <a:xfrm>
            <a:off x="112427" y="2436389"/>
            <a:ext cx="8926643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2600" dirty="0"/>
              <a:t>Precisam ser documentados:</a:t>
            </a:r>
          </a:p>
          <a:p>
            <a:pPr algn="just">
              <a:buFont typeface="Wingdings" pitchFamily="2" charset="2"/>
              <a:buChar char="v"/>
            </a:pPr>
            <a:r>
              <a:rPr lang="pt-BR" sz="2600" dirty="0">
                <a:solidFill>
                  <a:srgbClr val="C00000"/>
                </a:solidFill>
              </a:rPr>
              <a:t> Serviços providos </a:t>
            </a:r>
            <a:r>
              <a:rPr lang="pt-BR" sz="2600" dirty="0"/>
              <a:t>pelos processos da empresa</a:t>
            </a:r>
          </a:p>
          <a:p>
            <a:pPr algn="just">
              <a:buFont typeface="Wingdings" pitchFamily="2" charset="2"/>
              <a:buChar char="v"/>
            </a:pPr>
            <a:r>
              <a:rPr lang="pt-BR" sz="2600" dirty="0"/>
              <a:t> </a:t>
            </a:r>
            <a:r>
              <a:rPr lang="pt-BR" sz="2600" dirty="0">
                <a:solidFill>
                  <a:srgbClr val="C00000"/>
                </a:solidFill>
              </a:rPr>
              <a:t>Agrupamentos</a:t>
            </a:r>
            <a:r>
              <a:rPr lang="pt-BR" sz="2600" dirty="0"/>
              <a:t> dos processos ou associação deles em uma função operacional da empresa</a:t>
            </a:r>
          </a:p>
          <a:p>
            <a:pPr algn="just">
              <a:buFont typeface="Wingdings" pitchFamily="2" charset="2"/>
              <a:buChar char="v"/>
            </a:pPr>
            <a:r>
              <a:rPr lang="pt-BR" sz="2600" dirty="0"/>
              <a:t> Apontar os recursos humanos/</a:t>
            </a:r>
            <a:r>
              <a:rPr lang="pt-BR" sz="2600" dirty="0">
                <a:solidFill>
                  <a:srgbClr val="C00000"/>
                </a:solidFill>
              </a:rPr>
              <a:t>atores</a:t>
            </a:r>
            <a:r>
              <a:rPr lang="pt-BR" sz="2600" dirty="0"/>
              <a:t> associados a cada processo e qual o papel de cada um na empresa (cargo)</a:t>
            </a:r>
          </a:p>
          <a:p>
            <a:pPr algn="just">
              <a:buFont typeface="Wingdings" pitchFamily="2" charset="2"/>
              <a:buChar char="v"/>
            </a:pPr>
            <a:r>
              <a:rPr lang="pt-BR" sz="2600" dirty="0"/>
              <a:t> Mostrar qual a </a:t>
            </a:r>
            <a:r>
              <a:rPr lang="pt-BR" sz="2600" dirty="0">
                <a:solidFill>
                  <a:srgbClr val="C00000"/>
                </a:solidFill>
              </a:rPr>
              <a:t>ferramenta/interface</a:t>
            </a:r>
            <a:r>
              <a:rPr lang="pt-BR" sz="2600" dirty="0"/>
              <a:t> que os recursos humanos usam para realizar as atividades</a:t>
            </a:r>
          </a:p>
          <a:p>
            <a:pPr algn="just">
              <a:buFont typeface="Wingdings" pitchFamily="2" charset="2"/>
              <a:buChar char="v"/>
            </a:pPr>
            <a:r>
              <a:rPr lang="pt-BR" sz="2600" dirty="0"/>
              <a:t> Apontar quais eventos </a:t>
            </a:r>
            <a:r>
              <a:rPr lang="pt-BR" sz="2600" dirty="0">
                <a:solidFill>
                  <a:srgbClr val="C00000"/>
                </a:solidFill>
              </a:rPr>
              <a:t>demandam/disparam </a:t>
            </a:r>
            <a:r>
              <a:rPr lang="pt-BR" sz="2600" dirty="0"/>
              <a:t>os processos </a:t>
            </a:r>
          </a:p>
          <a:p>
            <a:pPr algn="just">
              <a:buFont typeface="Wingdings" pitchFamily="2" charset="2"/>
              <a:buChar char="v"/>
            </a:pPr>
            <a:r>
              <a:rPr lang="pt-BR" sz="2600" dirty="0"/>
              <a:t> Quais </a:t>
            </a:r>
            <a:r>
              <a:rPr lang="pt-BR" sz="2600" dirty="0">
                <a:solidFill>
                  <a:srgbClr val="C00000"/>
                </a:solidFill>
              </a:rPr>
              <a:t>registros</a:t>
            </a:r>
            <a:r>
              <a:rPr lang="pt-BR" sz="2600" dirty="0"/>
              <a:t> (dados) são operados no processo</a:t>
            </a:r>
          </a:p>
        </p:txBody>
      </p:sp>
    </p:spTree>
    <p:extLst>
      <p:ext uri="{BB962C8B-B14F-4D97-AF65-F5344CB8AC3E}">
        <p14:creationId xmlns:p14="http://schemas.microsoft.com/office/powerpoint/2010/main" val="2000450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8" name="Título 6"/>
          <p:cNvSpPr>
            <a:spLocks noGrp="1"/>
          </p:cNvSpPr>
          <p:nvPr>
            <p:ph type="title"/>
          </p:nvPr>
        </p:nvSpPr>
        <p:spPr>
          <a:xfrm>
            <a:off x="-22480" y="-85122"/>
            <a:ext cx="8229600" cy="1143000"/>
          </a:xfrm>
        </p:spPr>
        <p:txBody>
          <a:bodyPr/>
          <a:lstStyle/>
          <a:p>
            <a:r>
              <a:rPr lang="pt-BR" dirty="0"/>
              <a:t>Fase Arquitetura de Negócio</a:t>
            </a:r>
          </a:p>
        </p:txBody>
      </p:sp>
      <p:pic>
        <p:nvPicPr>
          <p:cNvPr id="9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94363" y="825633"/>
            <a:ext cx="2899930" cy="14678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Retângulo 9"/>
          <p:cNvSpPr/>
          <p:nvPr/>
        </p:nvSpPr>
        <p:spPr>
          <a:xfrm>
            <a:off x="284813" y="967938"/>
            <a:ext cx="5509550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2600" dirty="0"/>
              <a:t>Os Requisitos e Regras da Visão de</a:t>
            </a:r>
          </a:p>
          <a:p>
            <a:pPr algn="just"/>
            <a:r>
              <a:rPr lang="pt-BR" sz="2600" dirty="0"/>
              <a:t>Arquitetura são associados a Serviços que as áreas funcionais provêm através dos seus processos.</a:t>
            </a:r>
          </a:p>
        </p:txBody>
      </p:sp>
      <p:sp>
        <p:nvSpPr>
          <p:cNvPr id="13" name="Retângulo 12"/>
          <p:cNvSpPr/>
          <p:nvPr/>
        </p:nvSpPr>
        <p:spPr>
          <a:xfrm>
            <a:off x="5794363" y="2332101"/>
            <a:ext cx="3259691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/>
              <a:t>Exemplos:</a:t>
            </a:r>
          </a:p>
          <a:p>
            <a:r>
              <a:rPr lang="pt-BR" b="1" dirty="0"/>
              <a:t>-</a:t>
            </a:r>
            <a:r>
              <a:rPr lang="pt-BR" b="1" dirty="0">
                <a:solidFill>
                  <a:srgbClr val="C00000"/>
                </a:solidFill>
              </a:rPr>
              <a:t>Ator</a:t>
            </a:r>
            <a:r>
              <a:rPr lang="pt-BR" b="1" dirty="0"/>
              <a:t>: analista de marketing</a:t>
            </a:r>
          </a:p>
          <a:p>
            <a:r>
              <a:rPr lang="pt-BR" b="1" dirty="0"/>
              <a:t>-</a:t>
            </a:r>
            <a:r>
              <a:rPr lang="pt-BR" b="1" dirty="0">
                <a:solidFill>
                  <a:srgbClr val="C00000"/>
                </a:solidFill>
              </a:rPr>
              <a:t>Papel</a:t>
            </a:r>
            <a:r>
              <a:rPr lang="pt-BR" b="1" dirty="0"/>
              <a:t>: avaliar o mercado e concorrência</a:t>
            </a:r>
          </a:p>
          <a:p>
            <a:r>
              <a:rPr lang="pt-BR" b="1" dirty="0"/>
              <a:t>-</a:t>
            </a:r>
            <a:r>
              <a:rPr lang="pt-BR" b="1" dirty="0">
                <a:solidFill>
                  <a:srgbClr val="C00000"/>
                </a:solidFill>
              </a:rPr>
              <a:t>Função</a:t>
            </a:r>
            <a:r>
              <a:rPr lang="pt-BR" b="1" dirty="0"/>
              <a:t>: avaliar descontos</a:t>
            </a:r>
          </a:p>
          <a:p>
            <a:r>
              <a:rPr lang="pt-BR" b="1" dirty="0"/>
              <a:t>-</a:t>
            </a:r>
            <a:r>
              <a:rPr lang="pt-BR" b="1" dirty="0">
                <a:solidFill>
                  <a:srgbClr val="C00000"/>
                </a:solidFill>
              </a:rPr>
              <a:t>Processos</a:t>
            </a:r>
            <a:r>
              <a:rPr lang="pt-BR" b="1" dirty="0"/>
              <a:t>: buscar histórico do cliente; avaliar inadimplência; estimar desconto</a:t>
            </a:r>
          </a:p>
          <a:p>
            <a:r>
              <a:rPr lang="pt-BR" b="1" dirty="0"/>
              <a:t>-</a:t>
            </a:r>
            <a:r>
              <a:rPr lang="pt-BR" b="1" dirty="0">
                <a:solidFill>
                  <a:srgbClr val="C00000"/>
                </a:solidFill>
              </a:rPr>
              <a:t>Interface:</a:t>
            </a:r>
            <a:r>
              <a:rPr lang="pt-BR" b="1" dirty="0"/>
              <a:t> página WEB de</a:t>
            </a:r>
          </a:p>
          <a:p>
            <a:r>
              <a:rPr lang="pt-BR" b="1" dirty="0"/>
              <a:t>avaliação de perfil de cliente </a:t>
            </a:r>
            <a:r>
              <a:rPr lang="pt-BR" b="1" dirty="0">
                <a:solidFill>
                  <a:srgbClr val="C00000"/>
                </a:solidFill>
              </a:rPr>
              <a:t>Evento</a:t>
            </a:r>
            <a:r>
              <a:rPr lang="pt-BR" b="1" dirty="0"/>
              <a:t>: demanda por desconto pela área comercial</a:t>
            </a:r>
          </a:p>
          <a:p>
            <a:r>
              <a:rPr lang="pt-BR" b="1" dirty="0"/>
              <a:t>-</a:t>
            </a:r>
            <a:r>
              <a:rPr lang="pt-BR" b="1" dirty="0">
                <a:solidFill>
                  <a:srgbClr val="C00000"/>
                </a:solidFill>
              </a:rPr>
              <a:t>Ator</a:t>
            </a:r>
            <a:r>
              <a:rPr lang="pt-BR" b="1" dirty="0"/>
              <a:t>: analista de marketing</a:t>
            </a:r>
          </a:p>
          <a:p>
            <a:r>
              <a:rPr lang="pt-BR" b="1" dirty="0"/>
              <a:t>-</a:t>
            </a:r>
            <a:r>
              <a:rPr lang="pt-BR" b="1" dirty="0">
                <a:solidFill>
                  <a:srgbClr val="C00000"/>
                </a:solidFill>
              </a:rPr>
              <a:t>Produto</a:t>
            </a:r>
            <a:r>
              <a:rPr lang="pt-BR" b="1" dirty="0"/>
              <a:t>: relatório de desconto</a:t>
            </a:r>
          </a:p>
          <a:p>
            <a:r>
              <a:rPr lang="pt-BR" b="1" dirty="0"/>
              <a:t>-</a:t>
            </a:r>
            <a:r>
              <a:rPr lang="pt-BR" b="1" dirty="0">
                <a:solidFill>
                  <a:srgbClr val="C00000"/>
                </a:solidFill>
              </a:rPr>
              <a:t>Dado</a:t>
            </a:r>
            <a:r>
              <a:rPr lang="pt-BR" b="1" dirty="0"/>
              <a:t>: percentual de desconto</a:t>
            </a:r>
            <a:endParaRPr lang="pt-BR" b="1" dirty="0">
              <a:solidFill>
                <a:srgbClr val="FF0000"/>
              </a:solidFill>
            </a:endParaRPr>
          </a:p>
        </p:txBody>
      </p:sp>
      <p:grpSp>
        <p:nvGrpSpPr>
          <p:cNvPr id="12" name="Grupo 11"/>
          <p:cNvGrpSpPr/>
          <p:nvPr/>
        </p:nvGrpSpPr>
        <p:grpSpPr>
          <a:xfrm>
            <a:off x="194873" y="2660709"/>
            <a:ext cx="5509550" cy="3977800"/>
            <a:chOff x="194873" y="2660709"/>
            <a:chExt cx="5509550" cy="3977800"/>
          </a:xfrm>
        </p:grpSpPr>
        <p:pic>
          <p:nvPicPr>
            <p:cNvPr id="62466" name="Picture 2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194873" y="2660709"/>
              <a:ext cx="5509550" cy="3977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1" name="Retângulo 10"/>
            <p:cNvSpPr/>
            <p:nvPr/>
          </p:nvSpPr>
          <p:spPr>
            <a:xfrm>
              <a:off x="284813" y="2677961"/>
              <a:ext cx="1394085" cy="352314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1733278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500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5" dur="500"/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0" dur="500"/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5" dur="500"/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8" name="Título 6"/>
          <p:cNvSpPr>
            <a:spLocks noGrp="1"/>
          </p:cNvSpPr>
          <p:nvPr>
            <p:ph type="title"/>
          </p:nvPr>
        </p:nvSpPr>
        <p:spPr>
          <a:xfrm>
            <a:off x="-22480" y="-85122"/>
            <a:ext cx="8229600" cy="1143000"/>
          </a:xfrm>
        </p:spPr>
        <p:txBody>
          <a:bodyPr/>
          <a:lstStyle/>
          <a:p>
            <a:r>
              <a:rPr lang="pt-BR" dirty="0"/>
              <a:t>Fase Arquitetura do Negócio</a:t>
            </a:r>
          </a:p>
        </p:txBody>
      </p:sp>
      <p:pic>
        <p:nvPicPr>
          <p:cNvPr id="13313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94363" y="825633"/>
            <a:ext cx="2899930" cy="14678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tângulo 6"/>
          <p:cNvSpPr/>
          <p:nvPr/>
        </p:nvSpPr>
        <p:spPr>
          <a:xfrm>
            <a:off x="217357" y="825633"/>
            <a:ext cx="5577006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2600" dirty="0"/>
              <a:t>Os processos são desmembrados/</a:t>
            </a:r>
          </a:p>
          <a:p>
            <a:pPr algn="just"/>
            <a:r>
              <a:rPr lang="pt-BR" sz="2600" dirty="0">
                <a:solidFill>
                  <a:srgbClr val="C00000"/>
                </a:solidFill>
              </a:rPr>
              <a:t>detalhados</a:t>
            </a:r>
            <a:r>
              <a:rPr lang="pt-BR" sz="2600" dirty="0"/>
              <a:t> em suas atividades pois,</a:t>
            </a:r>
          </a:p>
          <a:p>
            <a:pPr algn="just"/>
            <a:r>
              <a:rPr lang="pt-BR" sz="2600" dirty="0"/>
              <a:t>algumas delas demandam </a:t>
            </a:r>
            <a:r>
              <a:rPr lang="pt-BR" sz="2600" dirty="0">
                <a:solidFill>
                  <a:srgbClr val="C00000"/>
                </a:solidFill>
              </a:rPr>
              <a:t>automação</a:t>
            </a:r>
            <a:r>
              <a:rPr lang="pt-BR" sz="2600" dirty="0"/>
              <a:t> e</a:t>
            </a:r>
          </a:p>
          <a:p>
            <a:pPr algn="just"/>
            <a:r>
              <a:rPr lang="pt-BR" sz="2600" dirty="0"/>
              <a:t>outras não.</a:t>
            </a:r>
          </a:p>
        </p:txBody>
      </p:sp>
      <p:sp>
        <p:nvSpPr>
          <p:cNvPr id="10" name="Retângulo 9"/>
          <p:cNvSpPr/>
          <p:nvPr/>
        </p:nvSpPr>
        <p:spPr>
          <a:xfrm>
            <a:off x="112427" y="3275829"/>
            <a:ext cx="8926643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2800" dirty="0">
                <a:solidFill>
                  <a:srgbClr val="C00000"/>
                </a:solidFill>
              </a:rPr>
              <a:t>Diagramas de fluxo </a:t>
            </a:r>
            <a:r>
              <a:rPr lang="pt-BR" sz="2800" dirty="0"/>
              <a:t>de atividades de processo detalham como os </a:t>
            </a:r>
            <a:r>
              <a:rPr lang="pt-BR" sz="2800" dirty="0">
                <a:solidFill>
                  <a:srgbClr val="0000FF"/>
                </a:solidFill>
              </a:rPr>
              <a:t>processos funcionam</a:t>
            </a:r>
            <a:r>
              <a:rPr lang="pt-BR" sz="2800" dirty="0"/>
              <a:t> internamente, esclarecendo como os </a:t>
            </a:r>
            <a:r>
              <a:rPr lang="pt-BR" sz="2800" dirty="0">
                <a:solidFill>
                  <a:srgbClr val="0000FF"/>
                </a:solidFill>
              </a:rPr>
              <a:t>atores interagem </a:t>
            </a:r>
            <a:r>
              <a:rPr lang="pt-BR" sz="2800" dirty="0"/>
              <a:t>em cada atividade, que </a:t>
            </a:r>
            <a:r>
              <a:rPr lang="pt-BR" sz="2800" dirty="0">
                <a:solidFill>
                  <a:srgbClr val="C00000"/>
                </a:solidFill>
              </a:rPr>
              <a:t>ferramentas</a:t>
            </a:r>
            <a:r>
              <a:rPr lang="pt-BR" sz="2800" dirty="0"/>
              <a:t> usam e como </a:t>
            </a:r>
            <a:r>
              <a:rPr lang="pt-BR" sz="2800" dirty="0">
                <a:solidFill>
                  <a:srgbClr val="C00000"/>
                </a:solidFill>
              </a:rPr>
              <a:t>controlam</a:t>
            </a:r>
            <a:r>
              <a:rPr lang="pt-BR" sz="2800" dirty="0"/>
              <a:t> resultados das atividades.</a:t>
            </a:r>
          </a:p>
        </p:txBody>
      </p:sp>
    </p:spTree>
    <p:extLst>
      <p:ext uri="{BB962C8B-B14F-4D97-AF65-F5344CB8AC3E}">
        <p14:creationId xmlns:p14="http://schemas.microsoft.com/office/powerpoint/2010/main" val="35762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8" name="Título 6"/>
          <p:cNvSpPr>
            <a:spLocks noGrp="1"/>
          </p:cNvSpPr>
          <p:nvPr>
            <p:ph type="title"/>
          </p:nvPr>
        </p:nvSpPr>
        <p:spPr>
          <a:xfrm>
            <a:off x="-22480" y="-85122"/>
            <a:ext cx="8229600" cy="1143000"/>
          </a:xfrm>
        </p:spPr>
        <p:txBody>
          <a:bodyPr/>
          <a:lstStyle/>
          <a:p>
            <a:r>
              <a:rPr lang="pt-BR" dirty="0"/>
              <a:t>Fase Arquitetura do Negócio</a:t>
            </a:r>
          </a:p>
        </p:txBody>
      </p:sp>
      <p:sp>
        <p:nvSpPr>
          <p:cNvPr id="10" name="Retângulo 9"/>
          <p:cNvSpPr/>
          <p:nvPr/>
        </p:nvSpPr>
        <p:spPr>
          <a:xfrm>
            <a:off x="112427" y="2106609"/>
            <a:ext cx="8926643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2800" dirty="0"/>
              <a:t>As técnicas apresentadas valem tanto para a representação dos processos de negócio como </a:t>
            </a:r>
            <a:r>
              <a:rPr lang="pt-BR" sz="2800" dirty="0">
                <a:solidFill>
                  <a:srgbClr val="C00000"/>
                </a:solidFill>
              </a:rPr>
              <a:t>são hoje </a:t>
            </a:r>
            <a:r>
              <a:rPr lang="pt-BR" sz="2800" dirty="0"/>
              <a:t>(</a:t>
            </a:r>
            <a:r>
              <a:rPr lang="pt-BR" sz="2800" dirty="0">
                <a:solidFill>
                  <a:srgbClr val="0000FF"/>
                </a:solidFill>
              </a:rPr>
              <a:t>As Is</a:t>
            </a:r>
            <a:r>
              <a:rPr lang="pt-BR" sz="2800" dirty="0"/>
              <a:t>) quanto para representar como ficarão após a implantação de uma </a:t>
            </a:r>
            <a:r>
              <a:rPr lang="pt-BR" sz="2800" dirty="0">
                <a:solidFill>
                  <a:srgbClr val="C00000"/>
                </a:solidFill>
              </a:rPr>
              <a:t>nova solução</a:t>
            </a:r>
            <a:r>
              <a:rPr lang="pt-BR" sz="2800" dirty="0"/>
              <a:t> tecnológica (</a:t>
            </a:r>
            <a:r>
              <a:rPr lang="pt-BR" sz="2800" dirty="0">
                <a:solidFill>
                  <a:srgbClr val="0000FF"/>
                </a:solidFill>
              </a:rPr>
              <a:t>To </a:t>
            </a:r>
            <a:r>
              <a:rPr lang="pt-BR" sz="2800" dirty="0" err="1">
                <a:solidFill>
                  <a:srgbClr val="0000FF"/>
                </a:solidFill>
              </a:rPr>
              <a:t>Be</a:t>
            </a:r>
            <a:r>
              <a:rPr lang="pt-BR" sz="28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891370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8" name="Título 6"/>
          <p:cNvSpPr>
            <a:spLocks noGrp="1"/>
          </p:cNvSpPr>
          <p:nvPr>
            <p:ph type="title"/>
          </p:nvPr>
        </p:nvSpPr>
        <p:spPr>
          <a:xfrm>
            <a:off x="-22480" y="-85122"/>
            <a:ext cx="8229600" cy="1143000"/>
          </a:xfrm>
        </p:spPr>
        <p:txBody>
          <a:bodyPr/>
          <a:lstStyle/>
          <a:p>
            <a:r>
              <a:rPr lang="pt-BR" dirty="0"/>
              <a:t>Fase </a:t>
            </a:r>
            <a:r>
              <a:rPr lang="pt-BR" dirty="0">
                <a:solidFill>
                  <a:srgbClr val="C00000"/>
                </a:solidFill>
              </a:rPr>
              <a:t>Visão </a:t>
            </a:r>
            <a:r>
              <a:rPr lang="pt-BR" dirty="0"/>
              <a:t>da Arquitetura</a:t>
            </a:r>
          </a:p>
        </p:txBody>
      </p:sp>
      <p:pic>
        <p:nvPicPr>
          <p:cNvPr id="9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94363" y="825633"/>
            <a:ext cx="2899930" cy="14678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Retângulo 9"/>
          <p:cNvSpPr/>
          <p:nvPr/>
        </p:nvSpPr>
        <p:spPr>
          <a:xfrm>
            <a:off x="284813" y="1057878"/>
            <a:ext cx="55095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2400" dirty="0"/>
              <a:t>Vamos utilizar o SW </a:t>
            </a:r>
            <a:r>
              <a:rPr lang="pt-BR" sz="2400" dirty="0" err="1"/>
              <a:t>Archimate</a:t>
            </a:r>
            <a:r>
              <a:rPr lang="pt-BR" sz="2400" dirty="0">
                <a:latin typeface="Calibri"/>
                <a:cs typeface="Calibri"/>
              </a:rPr>
              <a:t>®</a:t>
            </a:r>
            <a:endParaRPr lang="pt-BR" sz="2400" dirty="0"/>
          </a:p>
        </p:txBody>
      </p:sp>
      <p:sp>
        <p:nvSpPr>
          <p:cNvPr id="11" name="Retângulo 10"/>
          <p:cNvSpPr/>
          <p:nvPr/>
        </p:nvSpPr>
        <p:spPr>
          <a:xfrm>
            <a:off x="209860" y="2345566"/>
            <a:ext cx="869429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800" dirty="0"/>
              <a:t>Exemplo:</a:t>
            </a:r>
          </a:p>
        </p:txBody>
      </p:sp>
      <p:pic>
        <p:nvPicPr>
          <p:cNvPr id="63490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95981" y="2913755"/>
            <a:ext cx="8595313" cy="36369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Elipse 2">
            <a:extLst>
              <a:ext uri="{FF2B5EF4-FFF2-40B4-BE49-F238E27FC236}">
                <a16:creationId xmlns:a16="http://schemas.microsoft.com/office/drawing/2014/main" id="{3356704C-B5A5-83C1-8FA3-AF828417911D}"/>
              </a:ext>
            </a:extLst>
          </p:cNvPr>
          <p:cNvSpPr/>
          <p:nvPr/>
        </p:nvSpPr>
        <p:spPr>
          <a:xfrm rot="2419137">
            <a:off x="135535" y="2787514"/>
            <a:ext cx="2956810" cy="1996094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Balão de Fala: Retângulo com Cantos Arredondados 3">
            <a:extLst>
              <a:ext uri="{FF2B5EF4-FFF2-40B4-BE49-F238E27FC236}">
                <a16:creationId xmlns:a16="http://schemas.microsoft.com/office/drawing/2014/main" id="{CFA76E91-9D7E-D5A9-22FE-CF61974EC4F9}"/>
              </a:ext>
            </a:extLst>
          </p:cNvPr>
          <p:cNvSpPr/>
          <p:nvPr/>
        </p:nvSpPr>
        <p:spPr>
          <a:xfrm>
            <a:off x="1928984" y="1939494"/>
            <a:ext cx="1015694" cy="461665"/>
          </a:xfrm>
          <a:prstGeom prst="wedgeRoundRectCallout">
            <a:avLst>
              <a:gd name="adj1" fmla="val -54166"/>
              <a:gd name="adj2" fmla="val 120498"/>
              <a:gd name="adj3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ysClr val="windowText" lastClr="000000"/>
                </a:solidFill>
              </a:rPr>
              <a:t>Motivação</a:t>
            </a:r>
          </a:p>
        </p:txBody>
      </p:sp>
      <p:sp>
        <p:nvSpPr>
          <p:cNvPr id="5" name="Balão de Fala: Retângulo com Cantos Arredondados 4">
            <a:extLst>
              <a:ext uri="{FF2B5EF4-FFF2-40B4-BE49-F238E27FC236}">
                <a16:creationId xmlns:a16="http://schemas.microsoft.com/office/drawing/2014/main" id="{98D6C85E-CC7A-4E6D-D1F0-2F33AA62E1D6}"/>
              </a:ext>
            </a:extLst>
          </p:cNvPr>
          <p:cNvSpPr/>
          <p:nvPr/>
        </p:nvSpPr>
        <p:spPr>
          <a:xfrm>
            <a:off x="5794363" y="2650262"/>
            <a:ext cx="590939" cy="281309"/>
          </a:xfrm>
          <a:prstGeom prst="wedgeRoundRectCallout">
            <a:avLst>
              <a:gd name="adj1" fmla="val -80106"/>
              <a:gd name="adj2" fmla="val 86928"/>
              <a:gd name="adj3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ysClr val="windowText" lastClr="000000"/>
                </a:solidFill>
              </a:rPr>
              <a:t>Ator</a:t>
            </a:r>
          </a:p>
        </p:txBody>
      </p:sp>
      <p:sp>
        <p:nvSpPr>
          <p:cNvPr id="6" name="Balão de Fala: Retângulo com Cantos Arredondados 5">
            <a:extLst>
              <a:ext uri="{FF2B5EF4-FFF2-40B4-BE49-F238E27FC236}">
                <a16:creationId xmlns:a16="http://schemas.microsoft.com/office/drawing/2014/main" id="{EF9AF851-6B96-128C-63E3-9A775B243A81}"/>
              </a:ext>
            </a:extLst>
          </p:cNvPr>
          <p:cNvSpPr/>
          <p:nvPr/>
        </p:nvSpPr>
        <p:spPr>
          <a:xfrm>
            <a:off x="5794363" y="3312174"/>
            <a:ext cx="776918" cy="382636"/>
          </a:xfrm>
          <a:prstGeom prst="wedgeRoundRectCallout">
            <a:avLst>
              <a:gd name="adj1" fmla="val -80106"/>
              <a:gd name="adj2" fmla="val 86928"/>
              <a:gd name="adj3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ysClr val="windowText" lastClr="000000"/>
                </a:solidFill>
              </a:rPr>
              <a:t>Função</a:t>
            </a:r>
          </a:p>
        </p:txBody>
      </p:sp>
      <p:sp>
        <p:nvSpPr>
          <p:cNvPr id="7" name="Balão de Fala: Retângulo com Cantos Arredondados 6">
            <a:extLst>
              <a:ext uri="{FF2B5EF4-FFF2-40B4-BE49-F238E27FC236}">
                <a16:creationId xmlns:a16="http://schemas.microsoft.com/office/drawing/2014/main" id="{FC0B0A7D-056E-5285-7A5B-D7C9AC8D6144}"/>
              </a:ext>
            </a:extLst>
          </p:cNvPr>
          <p:cNvSpPr/>
          <p:nvPr/>
        </p:nvSpPr>
        <p:spPr>
          <a:xfrm>
            <a:off x="5794363" y="4154440"/>
            <a:ext cx="1015694" cy="382637"/>
          </a:xfrm>
          <a:prstGeom prst="wedgeRoundRectCallout">
            <a:avLst>
              <a:gd name="adj1" fmla="val -80106"/>
              <a:gd name="adj2" fmla="val 86928"/>
              <a:gd name="adj3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ysClr val="windowText" lastClr="000000"/>
                </a:solidFill>
              </a:rPr>
              <a:t>Interface</a:t>
            </a:r>
          </a:p>
        </p:txBody>
      </p:sp>
      <p:sp>
        <p:nvSpPr>
          <p:cNvPr id="12" name="Balão de Fala: Retângulo com Cantos Arredondados 11">
            <a:extLst>
              <a:ext uri="{FF2B5EF4-FFF2-40B4-BE49-F238E27FC236}">
                <a16:creationId xmlns:a16="http://schemas.microsoft.com/office/drawing/2014/main" id="{3E32884F-6926-70EB-DB12-4CDCAC4D48CA}"/>
              </a:ext>
            </a:extLst>
          </p:cNvPr>
          <p:cNvSpPr/>
          <p:nvPr/>
        </p:nvSpPr>
        <p:spPr>
          <a:xfrm>
            <a:off x="3219061" y="3919385"/>
            <a:ext cx="764003" cy="461665"/>
          </a:xfrm>
          <a:prstGeom prst="wedgeRoundRectCallout">
            <a:avLst>
              <a:gd name="adj1" fmla="val -35855"/>
              <a:gd name="adj2" fmla="val 93642"/>
              <a:gd name="adj3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ysClr val="windowText" lastClr="000000"/>
                </a:solidFill>
              </a:rPr>
              <a:t>Serviço</a:t>
            </a:r>
          </a:p>
        </p:txBody>
      </p:sp>
      <p:sp>
        <p:nvSpPr>
          <p:cNvPr id="13" name="Balão de Fala: Retângulo com Cantos Arredondados 12">
            <a:extLst>
              <a:ext uri="{FF2B5EF4-FFF2-40B4-BE49-F238E27FC236}">
                <a16:creationId xmlns:a16="http://schemas.microsoft.com/office/drawing/2014/main" id="{638F4F0A-68F0-B3FC-07A3-180758F9E4DB}"/>
              </a:ext>
            </a:extLst>
          </p:cNvPr>
          <p:cNvSpPr/>
          <p:nvPr/>
        </p:nvSpPr>
        <p:spPr>
          <a:xfrm>
            <a:off x="1" y="4612130"/>
            <a:ext cx="958364" cy="414876"/>
          </a:xfrm>
          <a:prstGeom prst="wedgeRoundRectCallout">
            <a:avLst>
              <a:gd name="adj1" fmla="val 49345"/>
              <a:gd name="adj2" fmla="val 80214"/>
              <a:gd name="adj3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ysClr val="windowText" lastClr="000000"/>
                </a:solidFill>
              </a:rPr>
              <a:t>Produto</a:t>
            </a:r>
          </a:p>
        </p:txBody>
      </p:sp>
      <p:sp>
        <p:nvSpPr>
          <p:cNvPr id="14" name="Balão de Fala: Retângulo com Cantos Arredondados 13">
            <a:extLst>
              <a:ext uri="{FF2B5EF4-FFF2-40B4-BE49-F238E27FC236}">
                <a16:creationId xmlns:a16="http://schemas.microsoft.com/office/drawing/2014/main" id="{F6F33609-46F2-F0E4-9B96-70BC599C475A}"/>
              </a:ext>
            </a:extLst>
          </p:cNvPr>
          <p:cNvSpPr/>
          <p:nvPr/>
        </p:nvSpPr>
        <p:spPr>
          <a:xfrm>
            <a:off x="209859" y="5503116"/>
            <a:ext cx="748505" cy="335949"/>
          </a:xfrm>
          <a:prstGeom prst="wedgeRoundRectCallout">
            <a:avLst>
              <a:gd name="adj1" fmla="val 49345"/>
              <a:gd name="adj2" fmla="val 80214"/>
              <a:gd name="adj3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ysClr val="windowText" lastClr="000000"/>
                </a:solidFill>
              </a:rPr>
              <a:t>Dados</a:t>
            </a:r>
          </a:p>
        </p:txBody>
      </p:sp>
      <p:sp>
        <p:nvSpPr>
          <p:cNvPr id="16" name="Balão de Fala: Retângulo com Cantos Arredondados 15">
            <a:extLst>
              <a:ext uri="{FF2B5EF4-FFF2-40B4-BE49-F238E27FC236}">
                <a16:creationId xmlns:a16="http://schemas.microsoft.com/office/drawing/2014/main" id="{DFA8F0B4-29F4-A644-765B-48ED02896DAE}"/>
              </a:ext>
            </a:extLst>
          </p:cNvPr>
          <p:cNvSpPr/>
          <p:nvPr/>
        </p:nvSpPr>
        <p:spPr>
          <a:xfrm>
            <a:off x="2062578" y="5522985"/>
            <a:ext cx="748505" cy="335949"/>
          </a:xfrm>
          <a:prstGeom prst="wedgeRoundRectCallout">
            <a:avLst>
              <a:gd name="adj1" fmla="val 49345"/>
              <a:gd name="adj2" fmla="val 80214"/>
              <a:gd name="adj3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ysClr val="windowText" lastClr="000000"/>
                </a:solidFill>
              </a:rPr>
              <a:t>Evento</a:t>
            </a:r>
          </a:p>
        </p:txBody>
      </p:sp>
      <p:sp>
        <p:nvSpPr>
          <p:cNvPr id="17" name="Balão de Fala: Retângulo com Cantos Arredondados 16">
            <a:extLst>
              <a:ext uri="{FF2B5EF4-FFF2-40B4-BE49-F238E27FC236}">
                <a16:creationId xmlns:a16="http://schemas.microsoft.com/office/drawing/2014/main" id="{29D4C827-1174-E21A-D49A-3E8EEB8F53A4}"/>
              </a:ext>
            </a:extLst>
          </p:cNvPr>
          <p:cNvSpPr/>
          <p:nvPr/>
        </p:nvSpPr>
        <p:spPr>
          <a:xfrm>
            <a:off x="7888459" y="4154441"/>
            <a:ext cx="1015694" cy="665128"/>
          </a:xfrm>
          <a:prstGeom prst="wedgeRoundRectCallout">
            <a:avLst>
              <a:gd name="adj1" fmla="val 26706"/>
              <a:gd name="adj2" fmla="val 133296"/>
              <a:gd name="adj3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ysClr val="windowText" lastClr="000000"/>
                </a:solidFill>
              </a:rPr>
              <a:t>Função ou coleção de ações</a:t>
            </a:r>
          </a:p>
        </p:txBody>
      </p:sp>
      <p:grpSp>
        <p:nvGrpSpPr>
          <p:cNvPr id="21" name="Agrupar 20">
            <a:extLst>
              <a:ext uri="{FF2B5EF4-FFF2-40B4-BE49-F238E27FC236}">
                <a16:creationId xmlns:a16="http://schemas.microsoft.com/office/drawing/2014/main" id="{2C216DD8-64BA-6070-BF3C-198DBC95BD5C}"/>
              </a:ext>
            </a:extLst>
          </p:cNvPr>
          <p:cNvGrpSpPr/>
          <p:nvPr/>
        </p:nvGrpSpPr>
        <p:grpSpPr>
          <a:xfrm>
            <a:off x="6118067" y="4791035"/>
            <a:ext cx="1020041" cy="383255"/>
            <a:chOff x="6118067" y="4791035"/>
            <a:chExt cx="1020041" cy="383255"/>
          </a:xfrm>
        </p:grpSpPr>
        <p:sp>
          <p:nvSpPr>
            <p:cNvPr id="18" name="Balão de Fala: Retângulo com Cantos Arredondados 17">
              <a:extLst>
                <a:ext uri="{FF2B5EF4-FFF2-40B4-BE49-F238E27FC236}">
                  <a16:creationId xmlns:a16="http://schemas.microsoft.com/office/drawing/2014/main" id="{BFDA7E13-17B3-3E2D-9F8B-A63D50B06654}"/>
                </a:ext>
              </a:extLst>
            </p:cNvPr>
            <p:cNvSpPr/>
            <p:nvPr/>
          </p:nvSpPr>
          <p:spPr>
            <a:xfrm>
              <a:off x="6118067" y="4791653"/>
              <a:ext cx="1015694" cy="382637"/>
            </a:xfrm>
            <a:prstGeom prst="wedgeRoundRectCallout">
              <a:avLst>
                <a:gd name="adj1" fmla="val 87741"/>
                <a:gd name="adj2" fmla="val 177850"/>
                <a:gd name="adj3" fmla="val 16667"/>
              </a:avLst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4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9" name="Balão de Fala: Retângulo com Cantos Arredondados 18">
              <a:extLst>
                <a:ext uri="{FF2B5EF4-FFF2-40B4-BE49-F238E27FC236}">
                  <a16:creationId xmlns:a16="http://schemas.microsoft.com/office/drawing/2014/main" id="{E2ACC334-191F-9148-7ACF-755A8CCF7245}"/>
                </a:ext>
              </a:extLst>
            </p:cNvPr>
            <p:cNvSpPr/>
            <p:nvPr/>
          </p:nvSpPr>
          <p:spPr>
            <a:xfrm>
              <a:off x="6118067" y="4791035"/>
              <a:ext cx="1015694" cy="382637"/>
            </a:xfrm>
            <a:prstGeom prst="wedgeRoundRectCallout">
              <a:avLst>
                <a:gd name="adj1" fmla="val -23648"/>
                <a:gd name="adj2" fmla="val 190001"/>
                <a:gd name="adj3" fmla="val 16667"/>
              </a:avLst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4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0" name="Balão de Fala: Retângulo com Cantos Arredondados 19">
              <a:extLst>
                <a:ext uri="{FF2B5EF4-FFF2-40B4-BE49-F238E27FC236}">
                  <a16:creationId xmlns:a16="http://schemas.microsoft.com/office/drawing/2014/main" id="{CCFB266E-06B4-6D84-88C4-4B40C0DB14BA}"/>
                </a:ext>
              </a:extLst>
            </p:cNvPr>
            <p:cNvSpPr/>
            <p:nvPr/>
          </p:nvSpPr>
          <p:spPr>
            <a:xfrm>
              <a:off x="6122414" y="4791404"/>
              <a:ext cx="1015694" cy="382637"/>
            </a:xfrm>
            <a:prstGeom prst="wedgeRoundRectCallout">
              <a:avLst>
                <a:gd name="adj1" fmla="val -145399"/>
                <a:gd name="adj2" fmla="val 194553"/>
                <a:gd name="adj3" fmla="val 16667"/>
              </a:avLst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dirty="0">
                  <a:solidFill>
                    <a:sysClr val="windowText" lastClr="000000"/>
                  </a:solidFill>
                </a:rPr>
                <a:t>Processos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20772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12" grpId="0" animBg="1"/>
      <p:bldP spid="13" grpId="0" animBg="1"/>
      <p:bldP spid="14" grpId="0" animBg="1"/>
      <p:bldP spid="16" grpId="0" animBg="1"/>
      <p:bldP spid="1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ângulo 11"/>
          <p:cNvSpPr/>
          <p:nvPr/>
        </p:nvSpPr>
        <p:spPr>
          <a:xfrm>
            <a:off x="1616099" y="2088607"/>
            <a:ext cx="5737468" cy="95410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pt-BR" sz="28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Quanto custa a </a:t>
            </a:r>
            <a:r>
              <a:rPr lang="pt-BR" sz="2800" b="1" dirty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NÃO</a:t>
            </a:r>
            <a:r>
              <a:rPr lang="pt-BR" sz="28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Qualidade?</a:t>
            </a:r>
          </a:p>
          <a:p>
            <a:pPr algn="ctr"/>
            <a:endParaRPr lang="pt-BR" sz="28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14" name="CaixaDeTexto 13"/>
          <p:cNvSpPr txBox="1"/>
          <p:nvPr/>
        </p:nvSpPr>
        <p:spPr>
          <a:xfrm>
            <a:off x="539552" y="3119970"/>
            <a:ext cx="19134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600" b="1" dirty="0"/>
              <a:t>Custos internos </a:t>
            </a:r>
          </a:p>
          <a:p>
            <a:pPr algn="just"/>
            <a:r>
              <a:rPr lang="pt-BR" sz="1600" b="1" dirty="0"/>
              <a:t>dos defeitos</a:t>
            </a:r>
          </a:p>
        </p:txBody>
      </p:sp>
      <p:pic>
        <p:nvPicPr>
          <p:cNvPr id="15" name="Imagem 14" descr="defect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285984" y="2719869"/>
            <a:ext cx="2428892" cy="1829765"/>
          </a:xfrm>
          <a:prstGeom prst="rect">
            <a:avLst/>
          </a:prstGeom>
        </p:spPr>
      </p:pic>
      <p:sp>
        <p:nvSpPr>
          <p:cNvPr id="17" name="CaixaDeTexto 16"/>
          <p:cNvSpPr txBox="1"/>
          <p:nvPr/>
        </p:nvSpPr>
        <p:spPr>
          <a:xfrm>
            <a:off x="6750480" y="3085074"/>
            <a:ext cx="22860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/>
              <a:t>Retrabalho, desgastes físico e emocional, ambiente de trabalho desfavorável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35496" y="5118698"/>
            <a:ext cx="23426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/>
              <a:t>Descontos nos preços   de produtos remanufaturados</a:t>
            </a:r>
          </a:p>
        </p:txBody>
      </p:sp>
      <p:pic>
        <p:nvPicPr>
          <p:cNvPr id="21" name="Imagem 20" descr="stock down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123728" y="4852949"/>
            <a:ext cx="2681421" cy="1984251"/>
          </a:xfrm>
          <a:prstGeom prst="rect">
            <a:avLst/>
          </a:prstGeom>
        </p:spPr>
      </p:pic>
      <p:sp>
        <p:nvSpPr>
          <p:cNvPr id="23" name="CaixaDeTexto 22"/>
          <p:cNvSpPr txBox="1"/>
          <p:nvPr/>
        </p:nvSpPr>
        <p:spPr>
          <a:xfrm>
            <a:off x="7020272" y="5116988"/>
            <a:ext cx="181559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/>
              <a:t>Custos intangíveis: perda de credibilidade, rejeição da marca, etc.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94D7BC61-2122-14D1-3E3E-BC7F7223ACFE}"/>
              </a:ext>
            </a:extLst>
          </p:cNvPr>
          <p:cNvSpPr/>
          <p:nvPr/>
        </p:nvSpPr>
        <p:spPr>
          <a:xfrm>
            <a:off x="-32" y="-15498"/>
            <a:ext cx="9144032" cy="584775"/>
          </a:xfrm>
          <a:prstGeom prst="rect">
            <a:avLst/>
          </a:prstGeom>
          <a:noFill/>
          <a:ln>
            <a:noFill/>
          </a:ln>
          <a:scene3d>
            <a:camera prst="orthographicFront"/>
            <a:lightRig rig="freezing" dir="t"/>
          </a:scene3d>
          <a:sp3d prstMaterial="dkEdge">
            <a:bevelT/>
            <a:bevelB/>
          </a:sp3d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200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C000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CP 2 - Quality Assurance 6 Sigma</a:t>
            </a:r>
            <a:endParaRPr lang="pt-BR" sz="3200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rgbClr val="C0000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4" name="Imagem 3" descr="Logotipo&#10;&#10;O conteúdo gerado por IA pode estar incorreto.">
            <a:extLst>
              <a:ext uri="{FF2B5EF4-FFF2-40B4-BE49-F238E27FC236}">
                <a16:creationId xmlns:a16="http://schemas.microsoft.com/office/drawing/2014/main" id="{81C0AF2B-D452-B424-7CDD-73FAB6563CE5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2286" y="4933230"/>
            <a:ext cx="1903970" cy="1903970"/>
          </a:xfrm>
          <a:prstGeom prst="rect">
            <a:avLst/>
          </a:prstGeom>
        </p:spPr>
      </p:pic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id="{32FF0CC9-EC3B-C979-DE6B-8025BFD9FCE0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2286" y="2755278"/>
            <a:ext cx="1794356" cy="1794356"/>
          </a:xfrm>
          <a:prstGeom prst="rect">
            <a:avLst/>
          </a:prstGeom>
        </p:spPr>
      </p:pic>
      <p:pic>
        <p:nvPicPr>
          <p:cNvPr id="7" name="Picture 18">
            <a:extLst>
              <a:ext uri="{FF2B5EF4-FFF2-40B4-BE49-F238E27FC236}">
                <a16:creationId xmlns:a16="http://schemas.microsoft.com/office/drawing/2014/main" id="{DDB10FBF-BB6D-2A85-2BEC-25F746979646}"/>
              </a:ext>
            </a:extLst>
          </p:cNvPr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8039389" y="116632"/>
            <a:ext cx="997107" cy="272893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568E6FE1-FD19-A71F-6937-4F4BC2A6164C}"/>
              </a:ext>
            </a:extLst>
          </p:cNvPr>
          <p:cNvSpPr txBox="1"/>
          <p:nvPr/>
        </p:nvSpPr>
        <p:spPr>
          <a:xfrm>
            <a:off x="35496" y="666431"/>
            <a:ext cx="9108504" cy="1323439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just"/>
            <a:r>
              <a:rPr lang="pt-B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Trabalhamos em aulas anteriores com o tema da Qualidade de Produto de SW, exemplificando com normas, padrões, regras e modelos de referência nacionais e internacionais. Trouxemos exemplos ainda das consequências do </a:t>
            </a:r>
            <a:r>
              <a:rPr lang="pt-BR" sz="20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NÃO</a:t>
            </a:r>
            <a:r>
              <a:rPr lang="pt-B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atendimento aos quesitos de qualidade.  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glitter pattern="hexago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  <p:bldP spid="17" grpId="0"/>
      <p:bldP spid="20" grpId="0"/>
      <p:bldP spid="2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ângulo 11"/>
          <p:cNvSpPr/>
          <p:nvPr/>
        </p:nvSpPr>
        <p:spPr>
          <a:xfrm>
            <a:off x="1135653" y="1034733"/>
            <a:ext cx="5737468" cy="95410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pt-BR" sz="28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Quanto custa a </a:t>
            </a:r>
            <a:r>
              <a:rPr lang="pt-BR" sz="2800" b="1" dirty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NÃO</a:t>
            </a:r>
            <a:r>
              <a:rPr lang="pt-BR" sz="28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Qualidade?</a:t>
            </a:r>
          </a:p>
          <a:p>
            <a:pPr algn="ctr"/>
            <a:endParaRPr lang="pt-BR" sz="28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17" name="CaixaDeTexto 16"/>
          <p:cNvSpPr txBox="1"/>
          <p:nvPr/>
        </p:nvSpPr>
        <p:spPr>
          <a:xfrm>
            <a:off x="7326544" y="2165955"/>
            <a:ext cx="14939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/>
              <a:t>Atrasos na produção e na entrega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51720" y="1723263"/>
            <a:ext cx="2002670" cy="1993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5" name="CaixaDeTexto 24"/>
          <p:cNvSpPr txBox="1"/>
          <p:nvPr/>
        </p:nvSpPr>
        <p:spPr>
          <a:xfrm>
            <a:off x="323966" y="2105561"/>
            <a:ext cx="175232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/>
              <a:t>Custos com horas extras para </a:t>
            </a:r>
          </a:p>
          <a:p>
            <a:r>
              <a:rPr lang="pt-BR" sz="1600" b="1" dirty="0"/>
              <a:t>recuperar atrasos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6127" y="1556792"/>
            <a:ext cx="2656033" cy="21602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551005" y="4441308"/>
            <a:ext cx="3909427" cy="13639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8" name="CaixaDeTexto 27"/>
          <p:cNvSpPr txBox="1"/>
          <p:nvPr/>
        </p:nvSpPr>
        <p:spPr>
          <a:xfrm>
            <a:off x="5518957" y="5868561"/>
            <a:ext cx="22145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/>
              <a:t>Inspeção de lotes retrabalhados</a:t>
            </a:r>
          </a:p>
        </p:txBody>
      </p:sp>
      <p:pic>
        <p:nvPicPr>
          <p:cNvPr id="32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041933" y="3861048"/>
            <a:ext cx="1897453" cy="26766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3" name="CaixaDeTexto 32"/>
          <p:cNvSpPr txBox="1"/>
          <p:nvPr/>
        </p:nvSpPr>
        <p:spPr>
          <a:xfrm>
            <a:off x="314003" y="4581128"/>
            <a:ext cx="167870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 dirty="0"/>
              <a:t>Custos excessivos com manutenção corretiva</a:t>
            </a:r>
          </a:p>
        </p:txBody>
      </p:sp>
      <p:pic>
        <p:nvPicPr>
          <p:cNvPr id="3" name="Picture 18">
            <a:extLst>
              <a:ext uri="{FF2B5EF4-FFF2-40B4-BE49-F238E27FC236}">
                <a16:creationId xmlns:a16="http://schemas.microsoft.com/office/drawing/2014/main" id="{8B4D84CA-7E70-6AB4-D5D7-6E08C1B5848A}"/>
              </a:ext>
            </a:extLst>
          </p:cNvPr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8039389" y="116632"/>
            <a:ext cx="997107" cy="272893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945EE462-B794-6EBB-9157-EE40D2D26135}"/>
              </a:ext>
            </a:extLst>
          </p:cNvPr>
          <p:cNvSpPr/>
          <p:nvPr/>
        </p:nvSpPr>
        <p:spPr>
          <a:xfrm>
            <a:off x="-32" y="-15498"/>
            <a:ext cx="9144032" cy="584775"/>
          </a:xfrm>
          <a:prstGeom prst="rect">
            <a:avLst/>
          </a:prstGeom>
          <a:noFill/>
          <a:ln>
            <a:noFill/>
          </a:ln>
          <a:scene3d>
            <a:camera prst="orthographicFront"/>
            <a:lightRig rig="freezing" dir="t"/>
          </a:scene3d>
          <a:sp3d prstMaterial="dkEdge">
            <a:bevelT/>
            <a:bevelB/>
          </a:sp3d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200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C000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CP 2 - Quality Assurance 6 Sigma</a:t>
            </a:r>
            <a:endParaRPr lang="pt-BR" sz="3200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rgbClr val="C0000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5" grpId="0"/>
      <p:bldP spid="28" grpId="0"/>
      <p:bldP spid="3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aixaDeTexto 13"/>
          <p:cNvSpPr txBox="1"/>
          <p:nvPr/>
        </p:nvSpPr>
        <p:spPr>
          <a:xfrm>
            <a:off x="1071538" y="755412"/>
            <a:ext cx="60722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b="1" dirty="0"/>
              <a:t>Exemplo ilustrativo: </a:t>
            </a:r>
            <a:r>
              <a:rPr lang="pt-BR" b="1" i="1" dirty="0"/>
              <a:t>Recall</a:t>
            </a:r>
            <a:r>
              <a:rPr lang="pt-BR" b="1" dirty="0"/>
              <a:t> de veículos no Brasil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714348" y="1196752"/>
            <a:ext cx="821537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b="1" dirty="0"/>
              <a:t>Chevrolet </a:t>
            </a:r>
            <a:r>
              <a:rPr lang="pt-BR" b="1" dirty="0">
                <a:solidFill>
                  <a:srgbClr val="0000FF"/>
                </a:solidFill>
              </a:rPr>
              <a:t>Onix Plus</a:t>
            </a:r>
          </a:p>
          <a:p>
            <a:pPr algn="just"/>
            <a:r>
              <a:rPr lang="pt-BR" b="1" dirty="0"/>
              <a:t>Problema: </a:t>
            </a:r>
            <a:r>
              <a:rPr lang="pt-BR" b="1" u="sng" dirty="0"/>
              <a:t>risco de incêndio</a:t>
            </a:r>
          </a:p>
          <a:p>
            <a:pPr algn="just"/>
            <a:r>
              <a:rPr lang="pt-BR" b="1" dirty="0">
                <a:solidFill>
                  <a:srgbClr val="FF0000"/>
                </a:solidFill>
              </a:rPr>
              <a:t>Causa: defeito no SOFTWARE de gerenciamento do motor</a:t>
            </a:r>
          </a:p>
          <a:p>
            <a:pPr algn="just"/>
            <a:r>
              <a:rPr lang="pt-BR" b="1" dirty="0"/>
              <a:t>Convocação: </a:t>
            </a:r>
            <a:r>
              <a:rPr lang="pt-BR" b="1" dirty="0">
                <a:solidFill>
                  <a:srgbClr val="FF0000"/>
                </a:solidFill>
              </a:rPr>
              <a:t>19.050</a:t>
            </a:r>
            <a:r>
              <a:rPr lang="pt-BR" b="1" dirty="0"/>
              <a:t> unidades</a:t>
            </a:r>
          </a:p>
          <a:p>
            <a:pPr algn="just"/>
            <a:r>
              <a:rPr lang="pt-BR" b="1" dirty="0"/>
              <a:t>Ano: 2019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714348" y="2852936"/>
            <a:ext cx="821537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b="1" dirty="0"/>
              <a:t>Volkswagen </a:t>
            </a:r>
            <a:r>
              <a:rPr lang="pt-BR" b="1" dirty="0">
                <a:solidFill>
                  <a:srgbClr val="0000FF"/>
                </a:solidFill>
              </a:rPr>
              <a:t>Fox, CrossFox e SpaceFox</a:t>
            </a:r>
          </a:p>
          <a:p>
            <a:pPr algn="just"/>
            <a:r>
              <a:rPr lang="pt-BR" b="1" dirty="0"/>
              <a:t>Problema: </a:t>
            </a:r>
            <a:r>
              <a:rPr lang="pt-BR" b="1" u="sng" dirty="0"/>
              <a:t>perigo de mutilação do dedo</a:t>
            </a:r>
          </a:p>
          <a:p>
            <a:pPr algn="just"/>
            <a:r>
              <a:rPr lang="pt-BR" b="1" dirty="0">
                <a:solidFill>
                  <a:srgbClr val="FF0000"/>
                </a:solidFill>
              </a:rPr>
              <a:t>Causa: instalação inapropriada da fita de tecido de uma argola metálica</a:t>
            </a:r>
          </a:p>
          <a:p>
            <a:pPr algn="just"/>
            <a:r>
              <a:rPr lang="pt-BR" b="1" dirty="0"/>
              <a:t>Convocação: </a:t>
            </a:r>
            <a:r>
              <a:rPr lang="pt-BR" b="1" dirty="0">
                <a:solidFill>
                  <a:srgbClr val="FF0000"/>
                </a:solidFill>
              </a:rPr>
              <a:t>511.000</a:t>
            </a:r>
            <a:r>
              <a:rPr lang="pt-BR" b="1" dirty="0"/>
              <a:t> unidades</a:t>
            </a:r>
          </a:p>
          <a:p>
            <a:pPr algn="just"/>
            <a:r>
              <a:rPr lang="pt-BR" b="1" dirty="0"/>
              <a:t>Ano: 2008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714348" y="4509120"/>
            <a:ext cx="821537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b="1" dirty="0"/>
              <a:t>Toyota </a:t>
            </a:r>
            <a:r>
              <a:rPr lang="pt-BR" b="1" dirty="0">
                <a:solidFill>
                  <a:srgbClr val="0000FF"/>
                </a:solidFill>
              </a:rPr>
              <a:t>Corolla</a:t>
            </a:r>
          </a:p>
          <a:p>
            <a:pPr algn="just"/>
            <a:r>
              <a:rPr lang="pt-BR" b="1" dirty="0"/>
              <a:t>Problema: </a:t>
            </a:r>
            <a:r>
              <a:rPr lang="pt-BR" b="1" u="sng" dirty="0"/>
              <a:t>aceleração involuntária</a:t>
            </a:r>
          </a:p>
          <a:p>
            <a:pPr algn="just"/>
            <a:r>
              <a:rPr lang="pt-BR" b="1" dirty="0"/>
              <a:t>Causa: </a:t>
            </a:r>
            <a:r>
              <a:rPr lang="pt-BR" b="1" dirty="0">
                <a:solidFill>
                  <a:srgbClr val="FF0000"/>
                </a:solidFill>
              </a:rPr>
              <a:t>erro no pedal que fazia o carro disparar de 0 a 100km/h em segundos </a:t>
            </a:r>
          </a:p>
          <a:p>
            <a:pPr algn="just"/>
            <a:r>
              <a:rPr lang="pt-BR" b="1" dirty="0"/>
              <a:t>Convocação: </a:t>
            </a:r>
            <a:r>
              <a:rPr lang="pt-BR" b="1" dirty="0">
                <a:solidFill>
                  <a:srgbClr val="FF0000"/>
                </a:solidFill>
              </a:rPr>
              <a:t>107.000</a:t>
            </a:r>
            <a:r>
              <a:rPr lang="pt-BR" b="1" dirty="0"/>
              <a:t> unidades</a:t>
            </a:r>
          </a:p>
          <a:p>
            <a:pPr algn="just"/>
            <a:r>
              <a:rPr lang="pt-BR" b="1" dirty="0"/>
              <a:t>Ano: 2010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F1CAA8F0-C0BB-0BC6-FEBD-D208FC6D0582}"/>
              </a:ext>
            </a:extLst>
          </p:cNvPr>
          <p:cNvSpPr txBox="1"/>
          <p:nvPr/>
        </p:nvSpPr>
        <p:spPr>
          <a:xfrm>
            <a:off x="0" y="6453336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/>
              <a:t>Fonte: </a:t>
            </a:r>
            <a:r>
              <a:rPr lang="pt-BR" sz="1600" dirty="0">
                <a:solidFill>
                  <a:srgbClr val="0000FF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https://reparadorsa.com.br/os-recalls-mais-marcantes-da-historia-automotiva-brasileira/</a:t>
            </a:r>
            <a:r>
              <a:rPr lang="pt-BR" sz="1600" dirty="0">
                <a:solidFill>
                  <a:srgbClr val="0000FF"/>
                </a:solidFill>
              </a:rPr>
              <a:t> </a:t>
            </a:r>
          </a:p>
        </p:txBody>
      </p:sp>
      <p:pic>
        <p:nvPicPr>
          <p:cNvPr id="3" name="Picture 18">
            <a:extLst>
              <a:ext uri="{FF2B5EF4-FFF2-40B4-BE49-F238E27FC236}">
                <a16:creationId xmlns:a16="http://schemas.microsoft.com/office/drawing/2014/main" id="{2A8392B0-7601-8AA9-0A33-9DEE163C431F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039389" y="116632"/>
            <a:ext cx="997107" cy="272893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F2687934-0FFA-250F-A622-F5A0921580EE}"/>
              </a:ext>
            </a:extLst>
          </p:cNvPr>
          <p:cNvSpPr/>
          <p:nvPr/>
        </p:nvSpPr>
        <p:spPr>
          <a:xfrm>
            <a:off x="-32" y="-15498"/>
            <a:ext cx="9144032" cy="584775"/>
          </a:xfrm>
          <a:prstGeom prst="rect">
            <a:avLst/>
          </a:prstGeom>
          <a:noFill/>
          <a:ln>
            <a:noFill/>
          </a:ln>
          <a:scene3d>
            <a:camera prst="orthographicFront"/>
            <a:lightRig rig="freezing" dir="t"/>
          </a:scene3d>
          <a:sp3d prstMaterial="dkEdge">
            <a:bevelT/>
            <a:bevelB/>
          </a:sp3d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200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C000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CP 2 - Quality Assurance 6 Sigma</a:t>
            </a:r>
            <a:endParaRPr lang="pt-BR" sz="3200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rgbClr val="C0000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8" grpId="0"/>
      <p:bldP spid="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B905D-B300-BD4E-D154-632CC9DE6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aixaDeTexto 13">
            <a:extLst>
              <a:ext uri="{FF2B5EF4-FFF2-40B4-BE49-F238E27FC236}">
                <a16:creationId xmlns:a16="http://schemas.microsoft.com/office/drawing/2014/main" id="{39D671E6-95D3-EF70-BFC3-29FE7119DB90}"/>
              </a:ext>
            </a:extLst>
          </p:cNvPr>
          <p:cNvSpPr txBox="1"/>
          <p:nvPr/>
        </p:nvSpPr>
        <p:spPr>
          <a:xfrm>
            <a:off x="1071538" y="569436"/>
            <a:ext cx="6072230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b="1" dirty="0"/>
              <a:t>TRABALHO DAS EQUIPES DE CHALLENGE 2025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2F4C9BDE-4475-4945-CCF0-47E7A0460A27}"/>
              </a:ext>
            </a:extLst>
          </p:cNvPr>
          <p:cNvSpPr txBox="1"/>
          <p:nvPr/>
        </p:nvSpPr>
        <p:spPr>
          <a:xfrm>
            <a:off x="0" y="979780"/>
            <a:ext cx="9144000" cy="59862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pt-BR" sz="2100" b="1" dirty="0"/>
              <a:t>Cada equipe deverá pesquisar e documentar ao menos </a:t>
            </a:r>
            <a:r>
              <a:rPr lang="pt-BR" sz="2100" b="1" dirty="0">
                <a:solidFill>
                  <a:srgbClr val="0000FF"/>
                </a:solidFill>
              </a:rPr>
              <a:t>5 EVENTOS </a:t>
            </a:r>
            <a:r>
              <a:rPr lang="pt-BR" sz="2100" b="1" dirty="0"/>
              <a:t>que envolvam </a:t>
            </a:r>
            <a:r>
              <a:rPr lang="pt-BR" sz="2100" b="1" i="1" u="sng" dirty="0"/>
              <a:t>recall</a:t>
            </a:r>
            <a:r>
              <a:rPr lang="pt-BR" sz="2100" b="1" i="1" dirty="0"/>
              <a:t> </a:t>
            </a:r>
            <a:r>
              <a:rPr lang="pt-BR" sz="2100" b="1" dirty="0"/>
              <a:t>ou problemas de garantia, defeito, inoperabilidade, etc. de </a:t>
            </a:r>
            <a:r>
              <a:rPr lang="pt-BR" sz="2100" b="1" dirty="0">
                <a:solidFill>
                  <a:srgbClr val="0000FF"/>
                </a:solidFill>
              </a:rPr>
              <a:t>PRODUTOS DE SOFTWARE </a:t>
            </a:r>
            <a:r>
              <a:rPr lang="pt-BR" sz="2100" b="1" dirty="0"/>
              <a:t>(App mobile, Sistemas Corporativos, Portais Web, etc.) relacionados à falta de qualidade que tenham impactado </a:t>
            </a:r>
            <a:r>
              <a:rPr lang="pt-BR" sz="2100" b="1" u="sng" dirty="0"/>
              <a:t>diretamente o cliente final</a:t>
            </a:r>
            <a:r>
              <a:rPr lang="pt-BR" sz="2100" b="1" dirty="0"/>
              <a:t>.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endParaRPr lang="pt-BR" sz="2100" b="1" dirty="0"/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pt-BR" sz="2100" b="1" dirty="0"/>
              <a:t>Relacionar os eventos com norma, padrão, modelo de referência ou regra nacional e/ou internacional trabalhada em aula. Referências de qualidade não citadas em aula, porém relacionada ao tema também serão aceitas. 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endParaRPr lang="pt-BR" sz="2100" b="1" dirty="0"/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pt-BR" sz="2100" b="1" dirty="0"/>
              <a:t>Preparem um documento no formato .DOCX ou .PDF com capa e Nome e RM dos integrantes da equipe. </a:t>
            </a:r>
            <a:r>
              <a:rPr lang="pt-BR" sz="2100" b="1" u="sng" dirty="0"/>
              <a:t>NÃO ESQUECER DE INCLUIR REFERÊNCIAS BILBIOGRÁFICAS</a:t>
            </a:r>
            <a:r>
              <a:rPr lang="pt-BR" sz="2100" b="1" dirty="0"/>
              <a:t>. 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endParaRPr lang="pt-BR" sz="2100" b="1" dirty="0"/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pt-BR" sz="2100" b="1" dirty="0">
                <a:solidFill>
                  <a:srgbClr val="0000FF"/>
                </a:solidFill>
              </a:rPr>
              <a:t>APENAS UM INTEGRANTE DA EQUIPE </a:t>
            </a:r>
            <a:r>
              <a:rPr lang="pt-BR" sz="2100" b="1" dirty="0"/>
              <a:t>deverá postar o arquivo em tarefa específica criada no Teams para esse fim.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endParaRPr lang="pt-BR" sz="2100" b="1" dirty="0"/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pt-BR" sz="2600" b="1" dirty="0">
                <a:solidFill>
                  <a:srgbClr val="FF0000"/>
                </a:solidFill>
              </a:rPr>
              <a:t>Data final da entrega: 19 de Setembro de 2025 (sexta-feira)</a:t>
            </a:r>
          </a:p>
        </p:txBody>
      </p:sp>
      <p:pic>
        <p:nvPicPr>
          <p:cNvPr id="3" name="Picture 18">
            <a:extLst>
              <a:ext uri="{FF2B5EF4-FFF2-40B4-BE49-F238E27FC236}">
                <a16:creationId xmlns:a16="http://schemas.microsoft.com/office/drawing/2014/main" id="{234B9FDA-587E-7DE1-443D-C3985D3C378D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039389" y="116632"/>
            <a:ext cx="997107" cy="272893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32580194-03E9-46F6-772F-7E48A2EE2779}"/>
              </a:ext>
            </a:extLst>
          </p:cNvPr>
          <p:cNvSpPr/>
          <p:nvPr/>
        </p:nvSpPr>
        <p:spPr>
          <a:xfrm>
            <a:off x="-32" y="-92988"/>
            <a:ext cx="9144032" cy="584775"/>
          </a:xfrm>
          <a:prstGeom prst="rect">
            <a:avLst/>
          </a:prstGeom>
          <a:noFill/>
          <a:ln>
            <a:noFill/>
          </a:ln>
          <a:scene3d>
            <a:camera prst="orthographicFront"/>
            <a:lightRig rig="freezing" dir="t"/>
          </a:scene3d>
          <a:sp3d prstMaterial="dkEdge">
            <a:bevelT/>
            <a:bevelB/>
          </a:sp3d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200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C000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CP 2 - Quality Assurance 6 Sigma</a:t>
            </a:r>
            <a:endParaRPr lang="pt-BR" sz="3200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rgbClr val="C0000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8517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aomputador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734" y="1421810"/>
            <a:ext cx="3062891" cy="2733630"/>
          </a:xfrm>
          <a:prstGeom prst="rect">
            <a:avLst/>
          </a:prstGeom>
        </p:spPr>
      </p:pic>
      <p:pic>
        <p:nvPicPr>
          <p:cNvPr id="5" name="Picture 4" descr="chicara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76259">
            <a:off x="2055756" y="3444240"/>
            <a:ext cx="1559560" cy="165001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47123" y="281893"/>
            <a:ext cx="6801557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dirty="0">
                <a:solidFill>
                  <a:srgbClr val="303030"/>
                </a:solidFill>
                <a:latin typeface="Gotham-Bold"/>
                <a:cs typeface="Gotham-Bold"/>
              </a:rPr>
              <a:t>REFERÊNCIAS</a:t>
            </a:r>
            <a:endParaRPr lang="en-US" sz="2800" dirty="0">
              <a:solidFill>
                <a:srgbClr val="303030"/>
              </a:solidFill>
              <a:latin typeface="Gotham-Book"/>
              <a:cs typeface="Gotham-Book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65379" y="37682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livros.png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87626">
            <a:off x="648591" y="4397170"/>
            <a:ext cx="2064240" cy="1700934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3360624" y="1143000"/>
            <a:ext cx="5326175" cy="5105400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pt-BR" sz="2400" b="1" dirty="0">
                <a:solidFill>
                  <a:srgbClr val="C00000"/>
                </a:solidFill>
              </a:rPr>
              <a:t>Bibliografia</a:t>
            </a:r>
          </a:p>
          <a:p>
            <a:pPr algn="just"/>
            <a:r>
              <a:rPr lang="pt-BR" sz="2400" b="1" dirty="0"/>
              <a:t>Básica</a:t>
            </a:r>
            <a:r>
              <a:rPr lang="pt-BR" sz="2400" dirty="0"/>
              <a:t>: PARDUCCI, Renato J. OLIVEIRA, </a:t>
            </a:r>
            <a:r>
              <a:rPr lang="pt-BR" sz="2400" dirty="0" err="1"/>
              <a:t>Elisamara</a:t>
            </a:r>
            <a:r>
              <a:rPr lang="pt-BR" sz="2400" dirty="0"/>
              <a:t>. TOGAF: Arquitetura de soluções de TI para empresas. Editora </a:t>
            </a:r>
            <a:r>
              <a:rPr lang="pt-BR" sz="2400" dirty="0" err="1"/>
              <a:t>Phorte</a:t>
            </a:r>
            <a:r>
              <a:rPr lang="pt-BR" sz="2400" dirty="0"/>
              <a:t>, São Paulo, 2019.</a:t>
            </a:r>
          </a:p>
          <a:p>
            <a:pPr algn="just">
              <a:buNone/>
            </a:pPr>
            <a:endParaRPr lang="pt-BR" sz="2400" dirty="0"/>
          </a:p>
          <a:p>
            <a:pPr algn="just">
              <a:buNone/>
            </a:pPr>
            <a:endParaRPr lang="pt-BR" sz="2400" dirty="0"/>
          </a:p>
          <a:p>
            <a:pPr algn="just"/>
            <a:r>
              <a:rPr lang="pt-BR" sz="2400" b="1" dirty="0"/>
              <a:t>Complementar</a:t>
            </a:r>
            <a:r>
              <a:rPr lang="pt-BR" sz="2400" dirty="0"/>
              <a:t>: The Open </a:t>
            </a:r>
            <a:r>
              <a:rPr lang="pt-BR" sz="2400" dirty="0" err="1"/>
              <a:t>Group</a:t>
            </a:r>
            <a:r>
              <a:rPr lang="pt-BR" sz="2400" dirty="0"/>
              <a:t>. The TOGAF® Standard, Version 9.2 - A </a:t>
            </a:r>
            <a:r>
              <a:rPr lang="pt-BR" sz="2400" dirty="0" err="1"/>
              <a:t>Pocket</a:t>
            </a:r>
            <a:r>
              <a:rPr lang="pt-BR" sz="2400" dirty="0"/>
              <a:t> </a:t>
            </a:r>
            <a:r>
              <a:rPr lang="pt-BR" sz="2400" dirty="0" err="1"/>
              <a:t>Guide</a:t>
            </a:r>
            <a:r>
              <a:rPr lang="pt-BR" sz="2400" dirty="0"/>
              <a:t>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227266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2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2580640"/>
            <a:ext cx="9144000" cy="282448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026"/>
          <p:cNvSpPr>
            <a:spLocks noChangeArrowheads="1"/>
          </p:cNvSpPr>
          <p:nvPr/>
        </p:nvSpPr>
        <p:spPr bwMode="auto">
          <a:xfrm>
            <a:off x="1053372" y="3222882"/>
            <a:ext cx="6694934" cy="19383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defRPr/>
            </a:pPr>
            <a:r>
              <a:rPr kumimoji="1" lang="en-US" sz="2000" dirty="0">
                <a:solidFill>
                  <a:schemeClr val="bg1"/>
                </a:solidFill>
                <a:latin typeface="Gotham-Bold"/>
                <a:cs typeface="Gotham-Bold"/>
              </a:rPr>
              <a:t>Copyright © 2025  Prof. Paulo </a:t>
            </a:r>
            <a:r>
              <a:rPr kumimoji="1" lang="en-US" sz="2000" dirty="0" err="1">
                <a:solidFill>
                  <a:schemeClr val="bg1"/>
                </a:solidFill>
                <a:latin typeface="Gotham-Bold"/>
                <a:cs typeface="Gotham-Bold"/>
              </a:rPr>
              <a:t>Sampaio</a:t>
            </a:r>
            <a:endParaRPr kumimoji="1" lang="en-US" sz="2000" dirty="0">
              <a:solidFill>
                <a:schemeClr val="bg1"/>
              </a:solidFill>
              <a:latin typeface="Gotham-Bold"/>
              <a:cs typeface="Gotham-Bold"/>
            </a:endParaRPr>
          </a:p>
          <a:p>
            <a:pPr>
              <a:defRPr/>
            </a:pP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  <a:hlinkClick r:id="rId3"/>
              </a:rPr>
              <a:t>profpaulo.sampaio@fiap.com.br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</a:p>
          <a:p>
            <a:pPr>
              <a:defRPr/>
            </a:pP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  <a:hlinkClick r:id="rId4"/>
              </a:rPr>
              <a:t>https://www.linkedin.com/in/profpaulosampaio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</a:p>
          <a:p>
            <a:pPr>
              <a:defRPr/>
            </a:pPr>
            <a:endParaRPr kumimoji="1" lang="en-US" sz="1600" dirty="0">
              <a:solidFill>
                <a:schemeClr val="bg1"/>
              </a:solidFill>
              <a:latin typeface="Gotham-Book"/>
              <a:cs typeface="Gotham-Book"/>
            </a:endParaRPr>
          </a:p>
          <a:p>
            <a:pPr>
              <a:lnSpc>
                <a:spcPct val="110000"/>
              </a:lnSpc>
              <a:defRPr/>
            </a:pP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Todos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direitos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reservados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.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Reprodução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divulgação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total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parcial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deste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documento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é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expressamente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proíbido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sem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o </a:t>
            </a:r>
            <a:r>
              <a:rPr kumimoji="1" lang="pt-BR" sz="1600" dirty="0">
                <a:solidFill>
                  <a:schemeClr val="bg1"/>
                </a:solidFill>
                <a:latin typeface="Gotham-Book"/>
                <a:cs typeface="Gotham-Book"/>
              </a:rPr>
              <a:t>consentimento formal, por escrito,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do Professor (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autor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).</a:t>
            </a:r>
          </a:p>
        </p:txBody>
      </p:sp>
      <p:sp>
        <p:nvSpPr>
          <p:cNvPr id="5" name="Rectangle 4"/>
          <p:cNvSpPr/>
          <p:nvPr/>
        </p:nvSpPr>
        <p:spPr>
          <a:xfrm>
            <a:off x="747966" y="3342641"/>
            <a:ext cx="72000" cy="12395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7837508" y="333716"/>
            <a:ext cx="975616" cy="267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594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Default Theme">
  <a:themeElements>
    <a:clrScheme name="Opulento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Escritório Clássico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Black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3ccc18f-a423-443c-b70f-e0437ba3d5c5" xsi:nil="true"/>
    <lcf76f155ced4ddcb4097134ff3c332f xmlns="5d958229-1a55-4e93-85b5-b8a5a775498a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CB8CFF1F968464CBF8321C5737DB781" ma:contentTypeVersion="10" ma:contentTypeDescription="Crie um novo documento." ma:contentTypeScope="" ma:versionID="456c4c2660fea8f5baec1dc2f8540388">
  <xsd:schema xmlns:xsd="http://www.w3.org/2001/XMLSchema" xmlns:xs="http://www.w3.org/2001/XMLSchema" xmlns:p="http://schemas.microsoft.com/office/2006/metadata/properties" xmlns:ns2="5d958229-1a55-4e93-85b5-b8a5a775498a" xmlns:ns3="03ccc18f-a423-443c-b70f-e0437ba3d5c5" targetNamespace="http://schemas.microsoft.com/office/2006/metadata/properties" ma:root="true" ma:fieldsID="b7809c3319688b12ed303e509ad511e2" ns2:_="" ns3:_="">
    <xsd:import namespace="5d958229-1a55-4e93-85b5-b8a5a775498a"/>
    <xsd:import namespace="03ccc18f-a423-443c-b70f-e0437ba3d5c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958229-1a55-4e93-85b5-b8a5a775498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Marcações de imagem" ma:readOnly="false" ma:fieldId="{5cf76f15-5ced-4ddc-b409-7134ff3c332f}" ma:taxonomyMulti="true" ma:sspId="e2398b20-2c76-408b-9565-673d41e5947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3ccc18f-a423-443c-b70f-e0437ba3d5c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6a041cf9-7a08-4389-9c8c-29c69186fda2}" ma:internalName="TaxCatchAll" ma:showField="CatchAllData" ma:web="03ccc18f-a423-443c-b70f-e0437ba3d5c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990A4CA-6E0B-437A-B240-9BB39C5D5FB1}">
  <ds:schemaRefs>
    <ds:schemaRef ds:uri="http://schemas.microsoft.com/office/2006/metadata/properties"/>
    <ds:schemaRef ds:uri="http://schemas.microsoft.com/office/infopath/2007/PartnerControls"/>
    <ds:schemaRef ds:uri="03ccc18f-a423-443c-b70f-e0437ba3d5c5"/>
    <ds:schemaRef ds:uri="5d958229-1a55-4e93-85b5-b8a5a775498a"/>
  </ds:schemaRefs>
</ds:datastoreItem>
</file>

<file path=customXml/itemProps2.xml><?xml version="1.0" encoding="utf-8"?>
<ds:datastoreItem xmlns:ds="http://schemas.openxmlformats.org/officeDocument/2006/customXml" ds:itemID="{8101630A-B9BE-46F6-9706-B45EE6544B1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43D2AC9-8489-48DE-ABDD-28DBF09E272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d958229-1a55-4e93-85b5-b8a5a775498a"/>
    <ds:schemaRef ds:uri="03ccc18f-a423-443c-b70f-e0437ba3d5c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Default Theme.thmx</Template>
  <TotalTime>1072</TotalTime>
  <Words>1929</Words>
  <Application>Microsoft Office PowerPoint</Application>
  <PresentationFormat>Apresentação no Ecrã (4:3)</PresentationFormat>
  <Paragraphs>250</Paragraphs>
  <Slides>32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5</vt:i4>
      </vt:variant>
      <vt:variant>
        <vt:lpstr>Títulos dos diapositivos</vt:lpstr>
      </vt:variant>
      <vt:variant>
        <vt:i4>32</vt:i4>
      </vt:variant>
    </vt:vector>
  </HeadingPairs>
  <TitlesOfParts>
    <vt:vector size="37" baseType="lpstr">
      <vt:lpstr>Default Theme</vt:lpstr>
      <vt:lpstr>1_Personalizar design</vt:lpstr>
      <vt:lpstr>2_Personalizar design</vt:lpstr>
      <vt:lpstr>Black</vt:lpstr>
      <vt:lpstr>Office Theme</vt:lpstr>
      <vt:lpstr>Apresentação do PowerPoint</vt:lpstr>
      <vt:lpstr>Apresentação do PowerPoint</vt:lpstr>
      <vt:lpstr>INTRODUÇÃO AO TOGAF®   The Open Group Architecture Framework</vt:lpstr>
      <vt:lpstr>INTRODUÇÃO AO TOGAF® Vamos utilizar o Software Archimate® v 5.5  disponível em:  https://www.archimatetool.com/download/  Utilize a opção “Windows Installer” </vt:lpstr>
      <vt:lpstr>Apresentação do PowerPoint</vt:lpstr>
      <vt:lpstr>  ARQUITETURA DE SOLUÇÕES </vt:lpstr>
      <vt:lpstr>  ARQUITETURA DE SOLUÇÕES </vt:lpstr>
      <vt:lpstr>Visão Geral do TOGAF® – ADM </vt:lpstr>
      <vt:lpstr>Visão Geral do TOGAF® – ADM </vt:lpstr>
      <vt:lpstr>Visão Geral do TOGAF® – ADM </vt:lpstr>
      <vt:lpstr>Fase preliminar da Arquitetura</vt:lpstr>
      <vt:lpstr>Fase preliminar da Arquitetura</vt:lpstr>
      <vt:lpstr>Fase preliminar da Arquitetura</vt:lpstr>
      <vt:lpstr>Fase Visão da Arquitetura</vt:lpstr>
      <vt:lpstr>Fase Visão da Arquitetura</vt:lpstr>
      <vt:lpstr>Fase Visão da Arquitetura</vt:lpstr>
      <vt:lpstr>Fase Visão da Arquitetura</vt:lpstr>
      <vt:lpstr>Fase Visão da Arquitetura</vt:lpstr>
      <vt:lpstr>Fase Visão da Arquitetura</vt:lpstr>
      <vt:lpstr>Fase Visão da Arquitetura</vt:lpstr>
      <vt:lpstr>Fase Arquitetura do Negócio</vt:lpstr>
      <vt:lpstr>Fase Arquitetura do Negócio</vt:lpstr>
      <vt:lpstr>Fase Arquitetura de Negócio</vt:lpstr>
      <vt:lpstr>Fase Arquitetura do Negócio</vt:lpstr>
      <vt:lpstr>Fase Arquitetura do Negócio</vt:lpstr>
      <vt:lpstr>Fase Visão da Arquitetura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FIAP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Juliana Reyes</dc:creator>
  <cp:lastModifiedBy>Paulo Sergio Sampaio</cp:lastModifiedBy>
  <cp:revision>192</cp:revision>
  <dcterms:created xsi:type="dcterms:W3CDTF">2015-01-30T10:46:50Z</dcterms:created>
  <dcterms:modified xsi:type="dcterms:W3CDTF">2025-09-18T21:36:35Z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0x010100ECB8CFF1F968464CBF8321C5737DB781</vt:lpwstr>
  </property>
  <property fmtid="{D5CDD505-2E9C-101B-9397-08002B2CF9AE}" pid="3" name="MediaServiceImageTags">
    <vt:lpwstr/>
  </property>
</Properties>
</file>